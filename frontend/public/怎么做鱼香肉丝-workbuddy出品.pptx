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padding: 0 }}&gt;&#10;  &lt;Image src=&quot;assets/dish_hero.png&quot; style={{ position: 'absolute', top: 0, left: 0, width: 1280, height: 720, objectFit: 'cover' }} /&gt;&#10;  &lt;Box style={{ position: 'absolute', top: 0, left: 0, width: 1280, height: 720, background: 'linear-gradient(180deg, rgba(43,32,24,0.15) 0%, rgba(43,32,24,0.68) 100%)' }} /&gt;&#10;  &lt;Box style={{ position: 'absolute', left: 70, bottom: 80, width: 800, flexDirection: 'column', gap: 16 }}&gt;&#10;    &lt;Text style={{ fontSize: 18, fontWeight: 'bold', color: '#F0B429', letterSpacing: 3 }}&gt;家常复刻 · 川菜经典&lt;/Text&gt;&#10;    &lt;Text style={{ fontSize: 76, fontWeight: 'bold', color: '#FDF8F0', lineHeight: 1.15 }}&gt;怎么做鱼香肉丝&lt;/Text&gt;&#10;    &lt;Text style={{ fontSize: 20, color: '#FDF8F0', opacity: 0.88 }}&gt;一道没有鱼的「鱼香」，六步在家端上桌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2018">
                  <a:alpha val="15000"/>
                </a:srgbClr>
              </a:gs>
              <a:gs pos="100000">
                <a:srgbClr val="2B2018">
                  <a:alpha val="6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4352925"/>
            <a:ext cx="762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F0B429"/>
                </a:solidFill>
                <a:latin typeface="Microsoft YaHei"/>
                <a:ea typeface="Microsoft YaHei"/>
              </a:rPr>
              <a:t>家常复刻</a:t>
            </a:r>
            <a:r>
              <a:rPr lang="en-US" sz="1350" b="1" spc="225">
                <a:solidFill>
                  <a:srgbClr val="F0B429"/>
                </a:solidFill>
                <a:latin typeface="Microsoft YaHei"/>
                <a:ea typeface="Microsoft YaHei"/>
              </a:rPr>
              <a:t> · </a:t>
            </a:r>
            <a:r>
              <a:rPr lang="zh-CN" sz="1350" b="1" spc="225">
                <a:solidFill>
                  <a:srgbClr val="F0B429"/>
                </a:solidFill>
                <a:latin typeface="Microsoft YaHei"/>
                <a:ea typeface="Microsoft YaHei"/>
              </a:rPr>
              <a:t>川菜经典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4714875"/>
            <a:ext cx="76200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700" b="1">
                <a:solidFill>
                  <a:srgbClr val="FDF8F0"/>
                </a:solidFill>
                <a:latin typeface="Microsoft YaHei"/>
                <a:ea typeface="Microsoft YaHei"/>
              </a:rPr>
              <a:t>怎么做鱼香肉丝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5867400"/>
            <a:ext cx="762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DF8F0">
                    <a:alpha val="88000"/>
                  </a:srgbClr>
                </a:solidFill>
                <a:latin typeface="Microsoft YaHei"/>
                <a:ea typeface="Microsoft YaHei"/>
              </a:rPr>
              <a:t>一道没有鱼的「鱼香」，六步在家端上桌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先认识「鱼香」&lt;/Text&gt;&#10;    &lt;/Box&gt;&#10;    &lt;Box style={{ width: 32, height: 32, borderRadius: 16, background: '#F0B429', alignItems: 'center', justifyContent: 'center' }}&gt;&#10;      &lt;Text style={{ fontSize: 16, fontWeight: 'bold', color: '#2B2018' }}&gt;2&lt;/Text&gt;&#10;    &lt;/Box&gt;&#10;  &lt;/Box&gt;&#10;  &lt;Box style={{ height: 540, flexDirection: 'row', gap: 24 }}&gt;&#10;    &lt;Image src=&quot;assets/dish_plated.png&quot; style={{ width: 640, height: 540, objectFit: 'cover', borderRadius: 12 }} /&gt;&#10;    &lt;Box style={{ flex: 1, flexDirection: 'column', gap: 14 }}&gt;&#10;      &lt;Box style={{ background: '#B83A26', borderRadius: 12, padding: '18px 20px', flexDirection: 'column', gap: 8 }}&gt;&#10;        &lt;Text style={{ fontSize: 22, fontWeight: 'bold', color: '#FDF8F0' }}&gt;鱼香里没有鱼&lt;/Text&gt;&#10;        &lt;Text style={{ fontSize: 16, color: '#FDF8F0', opacity: 0.92, lineHeight: 1.65 }}&gt;泡椒的酸辣，加糖醋的甜酸，再加葱姜蒜的辛香——三组味道合成川菜烹鱼的风味。所以叫鱼香，却不见鱼。&lt;/Text&gt;&#10;      &lt;/Box&gt;&#10;      &lt;Text style={{ fontSize: 16, fontWeight: 'bold', color: '#2B2018', opacity: 0.7 }}&gt;一盘合格的鱼香肉丝，四条标准&lt;/Text&gt;&#10;      &lt;Box style={{ flexDirection: 'column', gap: 10 }}&gt;&#10;        &lt;Box style={{ flexDirection: 'row', gap: 10 }}&gt;&#10;          &lt;Box style={{ flex: 1, background: 'rgba(240,180,41,0.16)', borderRadius: 12, padding: '14px 16px' }}&gt;&#10;            &lt;Text style={{ fontSize: 19, fontWeight: 'bold', color: '#2B2018' }}&gt;色红亮&lt;/Text&gt;&#10;            &lt;Text style={{ fontSize: 15, color: '#2B2018', opacity: 0.75, lineHeight: 1.5 }}&gt;红油亮汁，不发黑不浑浊&lt;/Text&gt;&#10;          &lt;/Box&gt;&#10;          &lt;Box style={{ flex: 1, background: 'rgba(240,180,41,0.16)', borderRadius: 12, padding: '14px 16px' }}&gt;&#10;            &lt;Text style={{ fontSize: 19, fontWeight: 'bold', color: '#2B2018' }}&gt;味平衡&lt;/Text&gt;&#10;            &lt;Text style={{ fontSize: 15, color: '#2B2018', opacity: 0.75, lineHeight: 1.5 }}&gt;咸甜酸辣四味互不压制&lt;/Text&gt;&#10;          &lt;/Box&gt;&#10;        &lt;/Box&gt;&#10;        &lt;Box style={{ flexDirection: 'row', gap: 10 }}&gt;&#10;          &lt;Box style={{ flex: 1, background: 'rgba(240,180,41,0.16)', borderRadius: 12, padding: '14px 16px' }}&gt;&#10;            &lt;Text style={{ fontSize: 19, fontWeight: 'bold', color: '#2B2018' }}&gt;肉滑嫩&lt;/Text&gt;&#10;            &lt;Text style={{ fontSize: 15, color: '#2B2018', opacity: 0.75, lineHeight: 1.5 }}&gt;上浆到位是唯一前提&lt;/Text&gt;&#10;          &lt;/Box&gt;&#10;          &lt;Box style={{ flex: 1, background: 'rgba(240,180,41,0.16)', borderRadius: 12, padding: '14px 16px' }}&gt;&#10;            &lt;Text style={{ fontSize: 19, fontWeight: 'bold', color: '#2B2018' }}&gt;亮油包汁&lt;/Text&gt;&#10;            &lt;Text style={{ fontSize: 15, color: '#2B2018', opacity: 0.75, lineHeight: 1.5 }}&gt;汁紧裹食材，盘底不泻汤&lt;/Text&gt;&#10;          &lt;/Box&gt;&#10;        &lt;/Box&gt;&#10;      &lt;/Box&gt;&#10;      &lt;Box style={{ marginTop: 'auto', background: '#B83A26', borderRadius: 12, padding: '12px 16px' }}&gt;&#10;        &lt;Text style={{ fontSize: 16, color: '#FDF8F0', lineHeight: 1.55 }}&gt;四条全达标才算成功——差一条，翻到第 9 页找对应的急救动作。&lt;/Text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2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先认识「鱼香」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10493" t="0" r="10493" b="0"/>
          <a:stretch>
            <a:fillRect/>
          </a:stretch>
        </p:blipFill>
        <p:spPr>
          <a:xfrm rot="0" flipH="0" flipV="0">
            <a:off x="666750" y="1143000"/>
            <a:ext cx="6096000" cy="5143500"/>
          </a:xfrm>
          <a:prstGeom prst="roundRect">
            <a:avLst>
              <a:gd name="adj" fmla="val 2222"/>
            </a:avLst>
          </a:prstGeom>
          <a:ln/>
        </p:spPr>
      </p:pic>
      <p:sp>
        <p:nvSpPr>
          <p:cNvPr id="28" name=""/>
          <p:cNvSpPr/>
          <p:nvPr/>
        </p:nvSpPr>
        <p:spPr>
          <a:xfrm rot="0" flipH="0" flipV="0">
            <a:off x="6991350" y="1143000"/>
            <a:ext cx="4533900" cy="1285875"/>
          </a:xfrm>
          <a:prstGeom prst="roundRect">
            <a:avLst>
              <a:gd name="adj" fmla="val 8889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181850" y="131445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DF8F0"/>
                </a:solidFill>
                <a:latin typeface="Microsoft YaHei"/>
                <a:ea typeface="Microsoft YaHei"/>
              </a:rPr>
              <a:t>鱼香里没有鱼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991350" y="2886075"/>
            <a:ext cx="2219325" cy="742950"/>
          </a:xfrm>
          <a:prstGeom prst="roundRect">
            <a:avLst>
              <a:gd name="adj" fmla="val 15385"/>
            </a:avLst>
          </a:prstGeom>
          <a:solidFill>
            <a:srgbClr val="F0B429">
              <a:alpha val="16000"/>
            </a:srgbClr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43750" y="3019425"/>
            <a:ext cx="1914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色红亮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9305925" y="2886075"/>
            <a:ext cx="2219325" cy="742950"/>
          </a:xfrm>
          <a:prstGeom prst="roundRect">
            <a:avLst>
              <a:gd name="adj" fmla="val 15385"/>
            </a:avLst>
          </a:prstGeom>
          <a:solidFill>
            <a:srgbClr val="F0B429">
              <a:alpha val="16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458325" y="3019425"/>
            <a:ext cx="1914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味平衡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991350" y="3724275"/>
            <a:ext cx="2219325" cy="742950"/>
          </a:xfrm>
          <a:prstGeom prst="roundRect">
            <a:avLst>
              <a:gd name="adj" fmla="val 15385"/>
            </a:avLst>
          </a:prstGeom>
          <a:solidFill>
            <a:srgbClr val="F0B429">
              <a:alpha val="16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143750" y="3857625"/>
            <a:ext cx="1914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肉滑嫩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9305925" y="3724275"/>
            <a:ext cx="2219325" cy="742950"/>
          </a:xfrm>
          <a:prstGeom prst="roundRect">
            <a:avLst>
              <a:gd name="adj" fmla="val 15385"/>
            </a:avLst>
          </a:prstGeom>
          <a:solidFill>
            <a:srgbClr val="F0B429">
              <a:alpha val="16000"/>
            </a:srgbClr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458325" y="3857625"/>
            <a:ext cx="1914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亮油包汁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991350" y="5486400"/>
            <a:ext cx="4533900" cy="800100"/>
          </a:xfrm>
          <a:prstGeom prst="roundRect">
            <a:avLst>
              <a:gd name="adj" fmla="val 14286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0" y="5600700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FDF8F0"/>
                </a:solidFill>
                <a:latin typeface="Microsoft YaHei"/>
                <a:ea typeface="Microsoft YaHei"/>
              </a:rPr>
              <a:t>四条全达标才算成功——差一条，翻到第</a:t>
            </a:r>
            <a:r>
              <a:rPr lang="en-US" sz="1200">
                <a:solidFill>
                  <a:srgbClr val="FDF8F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FDF8F0"/>
                </a:solidFill>
                <a:latin typeface="Microsoft YaHei"/>
                <a:ea typeface="Microsoft YaHei"/>
              </a:rPr>
              <a:t>页找对应的急救动作。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181850" y="1647825"/>
            <a:ext cx="41529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泡椒的酸辣，加糖醋的甜酸，再加葱姜蒜的辛香——三组味道合成川菜烹鱼的风味。所以叫鱼香，却不见鱼。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991350" y="256222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B2018">
                    <a:alpha val="70000"/>
                  </a:srgbClr>
                </a:solidFill>
                <a:latin typeface="Microsoft YaHei"/>
                <a:ea typeface="Microsoft YaHei"/>
              </a:rPr>
              <a:t>一盘合格的鱼香肉丝，四条标准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143750" y="3238500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红油亮汁，不发黑不浑浊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458325" y="3238500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咸甜酸辣四味互不压制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143750" y="4076700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上浆到位是唯一前提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458325" y="4076700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汁紧裹食材，盘底不泻汤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8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六步全流程，共 40 分钟&lt;/Text&gt;&#10;    &lt;/Box&gt;&#10;    &lt;Box style={{ width: 32, height: 32, borderRadius: 16, background: '#F0B429', alignItems: 'center', justifyContent: 'center' }}&gt;&#10;      &lt;Text style={{ fontSize: 16, fontWeight: 'bold', color: '#2B2018' }}&gt;3&lt;/Text&gt;&#10;    &lt;/Box&gt;&#10;  &lt;/Box&gt;&#10;  &lt;Box style={{ height: 540, flexDirection: 'column', gap: 16 }}&gt;&#10;    &lt;Image src=&quot;assets/ingredients.png&quot; style={{ width: 1140, height: 276, objectFit: 'cover', borderRadius: 12 }} /&gt;&#10;    &lt;Text style={{ fontSize: 17, color: '#2B2018', opacity: 0.8 }}&gt;全程 40 分钟里，热菜只有 3 分钟——真正的功夫都在开火之前的准备。&lt;/Text&gt;&#10;    &lt;Box style={{ height: 200, flexDirection: 'row', gap: 8, alignItems: 'stretch' }}&gt;&#10;      &lt;Box style={{ flex: 1, background: 'rgba(184,58,38,0.07)', borderRadius: 12, padding: 14, flexDirection: 'column', justifyContent: 'space-between' }}&gt;&#10;        &lt;Text style={{ fontSize: 26, fontWeight: 'bold', color: '#B83A26' }}&gt;01&lt;/Text&gt;&#10;        &lt;Text style={{ fontSize: 19, fontWeight: 'bold', color: '#2B2018' }}&gt;备料&lt;/Text&gt;&#10;        &lt;Box style={{ background: '#F0B429', borderRadius: 8, padding: '3px 10px', alignSelf: 'flex-start' }}&gt;&lt;Text style={{ fontSize: 14, fontWeight: 'bold', color: '#2B2018' }}&gt;10 分钟&lt;/Text&gt;&lt;/Box&gt;&#10;        &lt;Text style={{ fontSize: 14, color: '#2B2018', opacity: 0.75, lineHeight: 1.5 }}&gt;洗净称量，木耳提前泡发&lt;/Text&gt;&#10;      &lt;/Box&gt;&#10;      &lt;Box style={{ width: 18, alignItems: 'center', justifyContent: 'center' }}&gt;&lt;Text style={{ fontSize: 18, fontWeight: 'bold', color: '#B83A26' }}&gt;→&lt;/Text&gt;&lt;/Box&gt;&#10;      &lt;Box style={{ flex: 1, background: 'rgba(184,58,38,0.07)', borderRadius: 12, padding: 14, flexDirection: 'column', justifyContent: 'space-between' }}&gt;&#10;        &lt;Text style={{ fontSize: 26, fontWeight: 'bold', color: '#B83A26' }}&gt;02&lt;/Text&gt;&#10;        &lt;Text style={{ fontSize: 19, fontWeight: 'bold', color: '#2B2018' }}&gt;刀工&lt;/Text&gt;&#10;        &lt;Box style={{ background: '#F0B429', borderRadius: 8, padding: '3px 10px', alignSelf: 'flex-start' }}&gt;&lt;Text style={{ fontSize: 14, fontWeight: 'bold', color: '#2B2018' }}&gt;10 分钟&lt;/Text&gt;&lt;/Box&gt;&#10;        &lt;Text style={{ fontSize: 14, color: '#2B2018', opacity: 0.75, lineHeight: 1.5 }}&gt;三丝统一火柴棍规格&lt;/Text&gt;&#10;      &lt;/Box&gt;&#10;      &lt;Box style={{ width: 18, alignItems: 'center', justifyContent: 'center' }}&gt;&lt;Text style={{ fontSize: 18, fontWeight: 'bold', color: '#B83A26' }}&gt;→&lt;/Text&gt;&lt;/Box&gt;&#10;      &lt;Box style={{ flex: 1, background: 'rgba(184,58,38,0.07)', borderRadius: 12, padding: 14, flexDirection: 'column', justifyContent: 'space-between' }}&gt;&#10;        &lt;Text style={{ fontSize: 26, fontWeight: 'bold', color: '#B83A26' }}&gt;03&lt;/Text&gt;&#10;        &lt;Text style={{ fontSize: 19, fontWeight: 'bold', color: '#2B2018' }}&gt;上浆&lt;/Text&gt;&#10;        &lt;Box style={{ background: '#F0B429', borderRadius: 8, padding: '3px 10px', alignSelf: 'flex-start' }}&gt;&lt;Text style={{ fontSize: 14, fontWeight: 'bold', color: '#2B2018' }}&gt;15 分钟&lt;/Text&gt;&lt;/Box&gt;&#10;        &lt;Text style={{ fontSize: 14, color: '#2B2018', opacity: 0.75, lineHeight: 1.5 }}&gt;抓匀静置，锁住肉汁&lt;/Text&gt;&#10;      &lt;/Box&gt;&#10;      &lt;Box style={{ width: 18, alignItems: 'center', justifyContent: 'center' }}&gt;&lt;Text style={{ fontSize: 18, fontWeight: 'bold', color: '#B83A26' }}&gt;→&lt;/Text&gt;&lt;/Box&gt;&#10;      &lt;Box style={{ flex: 1, background: 'rgba(184,58,38,0.07)', borderRadius: 12, padding: 14, flexDirection: 'column', justifyContent: 'space-between' }}&gt;&#10;        &lt;Text style={{ fontSize: 26, fontWeight: 'bold', color: '#B83A26' }}&gt;04&lt;/Text&gt;&#10;        &lt;Text style={{ fontSize: 19, fontWeight: 'bold', color: '#2B2018' }}&gt;调汁&lt;/Text&gt;&#10;        &lt;Box style={{ background: '#F0B429', borderRadius: 8, padding: '3px 10px', alignSelf: 'flex-start' }}&gt;&lt;Text style={{ fontSize: 14, fontWeight: 'bold', color: '#2B2018' }}&gt;5 分钟&lt;/Text&gt;&lt;/Box&gt;&#10;        &lt;Text style={{ fontSize: 14, color: '#2B2018', opacity: 0.75, lineHeight: 1.5 }}&gt;一次调定，中途不补&lt;/Text&gt;&#10;      &lt;/Box&gt;&#10;      &lt;Box style={{ width: 18, alignItems: 'center', justifyContent: 'center' }}&gt;&lt;Text style={{ fontSize: 18, fontWeight: 'bold', color: '#B83A26' }}&gt;→&lt;/Text&gt;&lt;/Box&gt;&#10;      &lt;Box style={{ flex: 1, background: 'rgba(184,58,38,0.07)', borderRadius: 12, padding: 14, flexDirection: 'column', justifyContent: 'space-between' }}&gt;&#10;        &lt;Text style={{ fontSize: 26, fontWeight: 'bold', color: '#B83A26' }}&gt;05&lt;/Text&gt;&#10;        &lt;Text style={{ fontSize: 19, fontWeight: 'bold', color: '#2B2018' }}&gt;烹制&lt;/Text&gt;&#10;        &lt;Box style={{ background: '#F0B429', borderRadius: 8, padding: '3px 10px', alignSelf: 'flex-start' }}&gt;&lt;Text style={{ fontSize: 14, fontWeight: 'bold', color: '#2B2018' }}&gt;3 分钟&lt;/Text&gt;&lt;/Box&gt;&#10;        &lt;Text style={{ fontSize: 14, color: '#2B2018', opacity: 0.75, lineHeight: 1.5 }}&gt;全程大火，分四段下料&lt;/Text&gt;&#10;      &lt;/Box&gt;&#10;      &lt;Box style={{ width: 18, alignItems: 'center', justifyContent: 'center' }}&gt;&lt;Text style={{ fontSize: 18, fontWeight: 'bold', color: '#B83A26' }}&gt;→&lt;/Text&gt;&lt;/Box&gt;&#10;      &lt;Box style={{ flex: 1, background: 'rgba(184,58,38,0.07)', borderRadius: 12, padding: 14, flexDirection: 'column', justifyContent: 'space-between' }}&gt;&#10;        &lt;Text style={{ fontSize: 26, fontWeight: 'bold', color: '#B83A26' }}&gt;06&lt;/Text&gt;&#10;        &lt;Text style={{ fontSize: 19, fontWeight: 'bold', color: '#2B2018' }}&gt;自检&lt;/Text&gt;&#10;        &lt;Box style={{ background: '#F0B429', borderRadius: 8, padding: '3px 10px', alignSelf: 'flex-start' }}&gt;&lt;Text style={{ fontSize: 14, fontWeight: 'bold', color: '#2B2018' }}&gt;2 分钟&lt;/Text&gt;&lt;/Box&gt;&#10;        &lt;Text style={{ fontSize: 14, color: '#2B2018', opacity: 0.75, lineHeight: 1.5 }}&gt;色汁肉味，四项核对&lt;/Text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37147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六步全流程，共</a:t>
            </a:r>
            <a:r>
              <a:rPr lang="en-US" sz="2700" b="1">
                <a:solidFill>
                  <a:srgbClr val="2B2018"/>
                </a:solidFill>
                <a:latin typeface="Microsoft YaHei"/>
                <a:ea typeface="Microsoft YaHei"/>
              </a:rPr>
              <a:t> 40 </a:t>
            </a: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 r:embed="rId1"/>
          <a:srcRect l="0" t="31842" r="0" b="31842"/>
          <a:stretch>
            <a:fillRect/>
          </a:stretch>
        </p:blipFill>
        <p:spPr>
          <a:xfrm rot="0" flipH="0" flipV="0">
            <a:off x="666750" y="1143000"/>
            <a:ext cx="10858500" cy="2628900"/>
          </a:xfrm>
          <a:prstGeom prst="roundRect">
            <a:avLst>
              <a:gd name="adj" fmla="val 4348"/>
            </a:avLst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666750" y="4276725"/>
            <a:ext cx="1543050" cy="1905000"/>
          </a:xfrm>
          <a:prstGeom prst="roundRect">
            <a:avLst>
              <a:gd name="adj" fmla="val 7407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127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备料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00100" y="5210175"/>
            <a:ext cx="666750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95350" y="52387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10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286000" y="51244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B83A2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2533650" y="4276725"/>
            <a:ext cx="1533525" cy="1905000"/>
          </a:xfrm>
          <a:prstGeom prst="roundRect">
            <a:avLst>
              <a:gd name="adj" fmla="val 7453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2667000" y="4410075"/>
            <a:ext cx="1266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2667000" y="493395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刀工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2667000" y="5362575"/>
            <a:ext cx="666750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762250" y="53911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10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143375" y="51244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B83A2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391025" y="4276725"/>
            <a:ext cx="1543050" cy="1905000"/>
          </a:xfrm>
          <a:prstGeom prst="roundRect">
            <a:avLst>
              <a:gd name="adj" fmla="val 7407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524375" y="4410075"/>
            <a:ext cx="127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24375" y="493395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上浆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24375" y="5362575"/>
            <a:ext cx="666750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619625" y="53911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15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10275" y="51244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B83A2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257925" y="4276725"/>
            <a:ext cx="1543050" cy="1905000"/>
          </a:xfrm>
          <a:prstGeom prst="roundRect">
            <a:avLst>
              <a:gd name="adj" fmla="val 7407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391275" y="4410075"/>
            <a:ext cx="127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91275" y="493395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调汁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391275" y="5362575"/>
            <a:ext cx="581025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486525" y="53911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5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877175" y="51244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B83A2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124825" y="4276725"/>
            <a:ext cx="1533525" cy="1905000"/>
          </a:xfrm>
          <a:prstGeom prst="roundRect">
            <a:avLst>
              <a:gd name="adj" fmla="val 7453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58175" y="4410075"/>
            <a:ext cx="1266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258175" y="48482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烹制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258175" y="5210175"/>
            <a:ext cx="581025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53425" y="52387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3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34550" y="51244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B83A2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9982200" y="4276725"/>
            <a:ext cx="1543050" cy="1905000"/>
          </a:xfrm>
          <a:prstGeom prst="roundRect">
            <a:avLst>
              <a:gd name="adj" fmla="val 7407"/>
            </a:avLst>
          </a:prstGeom>
          <a:solidFill>
            <a:srgbClr val="B83A26">
              <a:alpha val="7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115550" y="4410075"/>
            <a:ext cx="127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3A26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115550" y="493395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自检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10115550" y="5362575"/>
            <a:ext cx="581025" cy="219075"/>
          </a:xfrm>
          <a:prstGeom prst="roundRect">
            <a:avLst>
              <a:gd name="adj" fmla="val 3478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210800" y="53911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B2018"/>
                </a:solidFill>
                <a:latin typeface="Microsoft YaHei"/>
                <a:ea typeface="Microsoft YaHei"/>
              </a:rPr>
              <a:t>2 </a:t>
            </a:r>
            <a:r>
              <a:rPr lang="zh-CN" sz="10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66750" y="392430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全程</a:t>
            </a:r>
            <a:r>
              <a:rPr lang="en-US" sz="127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 40 </a:t>
            </a:r>
            <a:r>
              <a:rPr lang="zh-CN" sz="127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分钟里，热菜只有</a:t>
            </a:r>
            <a:r>
              <a:rPr lang="en-US" sz="127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分钟——真正的功夫都在开火之前的准备。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00100" y="5562600"/>
            <a:ext cx="12763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洗净称量，木耳提前泡发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667000" y="5800725"/>
            <a:ext cx="12668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三丝统一火柴棍规格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24375" y="5800725"/>
            <a:ext cx="1276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抓匀静置，锁住肉汁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91275" y="5800725"/>
            <a:ext cx="1276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一次调定，中途不补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258175" y="5562600"/>
            <a:ext cx="12668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全程大火，分四段下料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115550" y="5800725"/>
            <a:ext cx="1276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B2018">
                    <a:alpha val="75000"/>
                  </a:srgbClr>
                </a:solidFill>
                <a:latin typeface="Microsoft YaHei"/>
                <a:ea typeface="Microsoft YaHei"/>
              </a:rPr>
              <a:t>色汁肉味，四项核对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备料清单：克数给足&lt;/Text&gt;&#10;    &lt;/Box&gt;&#10;    &lt;Box style={{ width: 32, height: 32, borderRadius: 16, background: '#F0B429', alignItems: 'center', justifyContent: 'center' }}&gt;&#10;      &lt;Text style={{ fontSize: 16, fontWeight: 'bold', color: '#2B2018' }}&gt;4&lt;/Text&gt;&#10;    &lt;/Box&gt;&#10;  &lt;/Box&gt;&#10;  &lt;Box style={{ height: 540, flexDirection: 'row', gap: 20 }}&gt;&#10;    &lt;Box style={{ width: 300, background: '#B83A26', borderRadius: 12, padding: 24, flexDirection: 'column', justifyContent: 'space-between' }}&gt;&#10;      &lt;Text style={{ fontSize: 24, fontWeight: 'bold', color: '#FDF8F0' }}&gt;备料原则&lt;/Text&gt;&#10;      &lt;Text style={{ fontSize: 17, color: '#FDF8F0', opacity: 0.92, lineHeight: 1.7 }}&gt;克数按 2-3 人份给足，宁多勿少——中途补料，火候必断。&lt;/Text&gt;&#10;      &lt;Text style={{ fontSize: 15, fontWeight: 'bold', color: '#F0B429' }}&gt;2-3 人份 · 全程用量&lt;/Text&gt;&#10;    &lt;/Box&gt;&#10;    &lt;Box style={{ flex: 1, flexDirection: 'column', gap: 12 }}&gt;&#10;      &lt;Box style={{ flex: 1, background: 'rgba(184,58,38,0.06)', borderRadius: 12, padding: '16px 20px', flexDirection: 'column', gap: 10, justifyContent: 'center' }}&gt;&#10;        &lt;Box style={{ background: '#F0B429', borderRadius: 8, padding: '3px 12px', alignSelf: 'flex-start' }}&gt;&lt;Text style={{ fontSize: 15, fontWeight: 'bold', color: '#2B2018' }}&gt;主料与配菜&lt;/Text&gt;&lt;/Box&gt;&#10;        &lt;Text style={{ fontSize: 18, color: '#2B2018', lineHeight: 1.7 }}&gt;猪里脊 300g（顺纹切丝）· 泡发木耳 50g · 冬笋 80g · 胡萝卜 40g · 葱 2 根 · 姜末、蒜末各 15g&lt;/Text&gt;&#10;      &lt;/Box&gt;&#10;      &lt;Box style={{ flex: 1, background: 'rgba(184,58,38,0.06)', borderRadius: 12, padding: '16px 20px', flexDirection: 'column', gap: 10, justifyContent: 'center' }}&gt;&#10;        &lt;Box style={{ background: '#F0B429', borderRadius: 8, padding: '3px 12px', alignSelf: 'flex-start' }}&gt;&lt;Text style={{ fontSize: 15, fontWeight: 'bold', color: '#2B2018' }}&gt;腌肉料&lt;/Text&gt;&lt;/Box&gt;&#10;        &lt;Text style={{ fontSize: 18, color: '#2B2018', lineHeight: 1.7 }}&gt;盐 2g · 料酒 1 勺（15ml）· 水淀粉 2 勺（淀粉 10g + 清水 20ml）&lt;/Text&gt;&#10;      &lt;/Box&gt;&#10;      &lt;Box style={{ flex: 1, background: 'rgba(184,58,38,0.06)', borderRadius: 12, padding: '16px 20px', flexDirection: 'column', gap: 10, justifyContent: 'center' }}&gt;&#10;        &lt;Box style={{ background: '#F0B429', borderRadius: 8, padding: '3px 12px', alignSelf: 'flex-start' }}&gt;&lt;Text style={{ fontSize: 15, fontWeight: 'bold', color: '#2B2018' }}&gt;鱼香汁与炝锅&lt;/Text&gt;&lt;/Box&gt;&#10;        &lt;Text style={{ fontSize: 18, color: '#2B2018', lineHeight: 1.7 }}&gt;泡椒末 30g（或郫县豆瓣 1 勺）· 糖 20g · 醋 20ml · 生抽 10ml · 清水 20ml · 水淀粉 1 勺 · 食用油适量&lt;/Text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4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备料清单：克数给足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66750" y="1143000"/>
            <a:ext cx="2857500" cy="5143500"/>
          </a:xfrm>
          <a:prstGeom prst="roundRect">
            <a:avLst>
              <a:gd name="adj" fmla="val 4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95350" y="13716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DF8F0"/>
                </a:solidFill>
                <a:latin typeface="Microsoft YaHei"/>
                <a:ea typeface="Microsoft YaHei"/>
              </a:rPr>
              <a:t>备料原则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5886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0B429"/>
                </a:solidFill>
                <a:latin typeface="Microsoft YaHei"/>
                <a:ea typeface="Microsoft YaHei"/>
              </a:rPr>
              <a:t>2-3 </a:t>
            </a:r>
            <a:r>
              <a:rPr lang="zh-CN" sz="1125" b="1">
                <a:solidFill>
                  <a:srgbClr val="F0B429"/>
                </a:solidFill>
                <a:latin typeface="Microsoft YaHei"/>
                <a:ea typeface="Microsoft YaHei"/>
              </a:rPr>
              <a:t>人份</a:t>
            </a:r>
            <a:r>
              <a:rPr lang="en-US" sz="1125" b="1">
                <a:solidFill>
                  <a:srgbClr val="F0B429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F0B429"/>
                </a:solidFill>
                <a:latin typeface="Microsoft YaHei"/>
                <a:ea typeface="Microsoft YaHei"/>
              </a:rPr>
              <a:t>全程用量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3714750" y="1143000"/>
            <a:ext cx="7810500" cy="1524000"/>
          </a:xfrm>
          <a:prstGeom prst="roundRect">
            <a:avLst>
              <a:gd name="adj" fmla="val 7500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3905250" y="1571625"/>
            <a:ext cx="942975" cy="228600"/>
          </a:xfrm>
          <a:prstGeom prst="roundRect">
            <a:avLst>
              <a:gd name="adj" fmla="val 3333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019550" y="16002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018"/>
                </a:solidFill>
                <a:latin typeface="Microsoft YaHei"/>
                <a:ea typeface="Microsoft YaHei"/>
              </a:rPr>
              <a:t>主料与配菜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905250" y="1895475"/>
            <a:ext cx="7429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猪里脊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300g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（顺纹切丝）·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泡发木耳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50g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冬笋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80g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胡萝卜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40g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葱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根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姜末、蒜末各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15g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714750" y="2781300"/>
            <a:ext cx="7810500" cy="1514475"/>
          </a:xfrm>
          <a:prstGeom prst="roundRect">
            <a:avLst>
              <a:gd name="adj" fmla="val 7547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3905250" y="3200400"/>
            <a:ext cx="657225" cy="228600"/>
          </a:xfrm>
          <a:prstGeom prst="roundRect">
            <a:avLst>
              <a:gd name="adj" fmla="val 3333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019550" y="32289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018"/>
                </a:solidFill>
                <a:latin typeface="Microsoft YaHei"/>
                <a:ea typeface="Microsoft YaHei"/>
              </a:rPr>
              <a:t>腌肉料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905250" y="3524250"/>
            <a:ext cx="7429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盐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2g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料酒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勺（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15ml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）·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水淀粉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勺（淀粉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10g +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清水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20ml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714750" y="4410075"/>
            <a:ext cx="7810500" cy="1876425"/>
          </a:xfrm>
          <a:prstGeom prst="roundRect">
            <a:avLst>
              <a:gd name="adj" fmla="val 6091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3905250" y="4838700"/>
            <a:ext cx="1085850" cy="228600"/>
          </a:xfrm>
          <a:prstGeom prst="roundRect">
            <a:avLst>
              <a:gd name="adj" fmla="val 33333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019550" y="4867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018"/>
                </a:solidFill>
                <a:latin typeface="Microsoft YaHei"/>
                <a:ea typeface="Microsoft YaHei"/>
              </a:rPr>
              <a:t>鱼香汁与炝锅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905250" y="5162550"/>
            <a:ext cx="7429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泡椒末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30g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（或郫县豆瓣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勺）·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糖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20g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醋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20ml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生抽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10ml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清水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20ml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水淀粉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勺</a:t>
            </a:r>
            <a:r>
              <a:rPr lang="en-US" sz="1350">
                <a:solidFill>
                  <a:srgbClr val="2B201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2B2018"/>
                </a:solidFill>
                <a:latin typeface="Microsoft YaHei"/>
                <a:ea typeface="Microsoft YaHei"/>
              </a:rPr>
              <a:t>食用油适量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95350" y="3438525"/>
            <a:ext cx="2400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克数按</a:t>
            </a:r>
            <a:r>
              <a:rPr lang="en-US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 2-3 </a:t>
            </a:r>
            <a:r>
              <a:rPr lang="zh-CN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人份给足，宁多勿少——中途补料，火候必断。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3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刀工：三丝一个规格&lt;/Text&gt;&#10;    &lt;/Box&gt;&#10;    &lt;Box style={{ width: 32, height: 32, borderRadius: 16, background: '#F0B429', alignItems: 'center', justifyContent: 'center' }}&gt;&#10;      &lt;Text style={{ fontSize: 16, fontWeight: 'bold', color: '#2B2018' }}&gt;5&lt;/Text&gt;&#10;    &lt;/Box&gt;&#10;  &lt;/Box&gt;&#10;  &lt;Box style={{ height: 540, flexDirection: 'row', gap: 20 }}&gt;&#10;    &lt;Box style={{ flex: 3, flexDirection: 'column', gap: 12 }}&gt;&#10;      &lt;Text style={{ fontSize: 22, fontWeight: 'bold', color: '#2B2018' }}&gt;三种丝，切到同一个尺寸&lt;/Text&gt;&#10;      &lt;Box style={{ flex: 1, flexDirection: 'row', alignItems: 'center', gap: 14, background: 'rgba(184,58,38,0.06)', borderRadius: 12, padding: '14px 18px' }}&gt;&#10;        &lt;Text style={{ width: 110, fontSize: 18, fontWeight: 'bold', color: '#B83A26' }}&gt;肉丝&lt;/Text&gt;&#10;        &lt;Text style={{ flex: 1, fontSize: 17, color: '#2B2018', lineHeight: 1.6 }}&gt;顺纹切 0.3cm 见方、6cm 长——顺纹不易断，受热不卷曲&lt;/Text&gt;&#10;      &lt;/Box&gt;&#10;      &lt;Box style={{ flex: 1, flexDirection: 'row', alignItems: 'center', gap: 14, background: 'rgba(184,58,38,0.06)', borderRadius: 12, padding: '14px 18px' }}&gt;&#10;        &lt;Text style={{ width: 110, fontSize: 18, fontWeight: 'bold', color: '#B83A26' }}&gt;木耳丝&lt;/Text&gt;&#10;        &lt;Text style={{ flex: 1, fontSize: 17, color: '#2B2018', lineHeight: 1.6 }}&gt;泡发后切 0.3cm 宽，长短与肉丝一致&lt;/Text&gt;&#10;      &lt;/Box&gt;&#10;      &lt;Box style={{ flex: 1, flexDirection: 'row', alignItems: 'center', gap: 14, background: 'rgba(184,58,38,0.06)', borderRadius: 12, padding: '14px 18px' }}&gt;&#10;        &lt;Text style={{ width: 110, fontSize: 18, fontWeight: 'bold', color: '#B83A26' }}&gt;冬笋·胡萝卜&lt;/Text&gt;&#10;        &lt;Text style={{ flex: 1, fontSize: 17, color: '#2B2018', lineHeight: 1.6 }}&gt;同规格火柴棍，冬笋先焯水 10 秒去涩&lt;/Text&gt;&#10;      &lt;/Box&gt;&#10;      &lt;Box style={{ background: '#F0B429', borderRadius: 12, padding: '16px 18px' }}&gt;&#10;        &lt;Text style={{ fontSize: 19, fontWeight: 'bold', color: '#2B2018' }}&gt;规格统一 = 同时断生 = 口感一致&lt;/Text&gt;&#10;      &lt;/Box&gt;&#10;    &lt;/Box&gt;&#10;    &lt;Box style={{ flex: 2, background: 'rgba(184,58,38,0.06)', borderRadius: 12, padding: 20, flexDirection: 'column' }}&gt;&#10;      &lt;Text style={{ fontSize: 22, fontWeight: 'bold', color: '#2B2018', marginBottom: 16 }}&gt;刀工三诀&lt;/Text&gt;&#10;      &lt;Box style={{ flex: 1, flexDirection: 'column', gap: 14 }}&gt;&#10;      &lt;Box style={{ flexDirection: 'row', gap: 12, alignItems: 'flex-start' }}&gt;&#10;        &lt;Box style={{ width: 28, height: 28, borderRadius: 14, background: '#B83A26', alignItems: 'center', justifyContent: 'center' }}&gt;&lt;Text style={{ fontSize: 15, fontWeight: 'bold', color: '#FDF8F0' }}&gt;1&lt;/Text&gt;&lt;/Box&gt;&#10;        &lt;Text style={{ flex: 1, fontSize: 16, color: '#2B2018', lineHeight: 1.6 }}&gt;肉微冻更好切：冷冻 15 分钟定型再下刀，粗细才匀&lt;/Text&gt;&#10;      &lt;/Box&gt;&#10;      &lt;Box style={{ flexDirection: 'row', gap: 12, alignItems: 'flex-start' }}&gt;&#10;        &lt;Box style={{ width: 28, height: 28, borderRadius: 14, background: '#B83A26', alignItems: 'center', justifyContent: 'center' }}&gt;&lt;Text style={{ fontSize: 15, fontWeight: 'bold', color: '#FDF8F0' }}&gt;2&lt;/Text&gt;&lt;/Box&gt;&#10;        &lt;Text style={{ flex: 1, fontSize: 16, color: '#2B2018', lineHeight: 1.6 }}&gt;肉丝顺纹、肉片逆纹：方向切反，口感差一倍&lt;/Text&gt;&#10;      &lt;/Box&gt;&#10;      &lt;Box style={{ flexDirection: 'row', gap: 12, alignItems: 'flex-start' }}&gt;&#10;        &lt;Box style={{ width: 28, height: 28, borderRadius: 14, background: '#B83A26', alignItems: 'center', justifyContent: 'center' }}&gt;&lt;Text style={{ fontSize: 15, fontWeight: 'bold', color: '#FDF8F0' }}&gt;3&lt;/Text&gt;&lt;/Box&gt;&#10;        &lt;Text style={{ flex: 1, fontSize: 16, color: '#2B2018', lineHeight: 1.6 }}&gt;刀贴指节，慢切稳送：安全比速度重要&lt;/Text&gt;&#10;      &lt;/Box&gt;&#10;      &lt;/Box&gt;&#10;      &lt;Box style={{ background: '#F0B429', borderRadius: 10, padding: '12px 16px' }}&gt;&#10;        &lt;Text style={{ fontSize: 16, fontWeight: 'bold', color: '#2B2018', lineHeight: 1.55 }}&gt;慢就是快：第一次宁可切慢一点，切匀比切快重要&lt;/Text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5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刀工：三丝一个规格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66750" y="1143000"/>
            <a:ext cx="640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018"/>
                </a:solidFill>
                <a:latin typeface="Microsoft YaHei"/>
                <a:ea typeface="Microsoft YaHei"/>
              </a:rPr>
              <a:t>三种丝，切到同一个尺寸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66750" y="1514475"/>
            <a:ext cx="6400800" cy="1304925"/>
          </a:xfrm>
          <a:prstGeom prst="roundRect">
            <a:avLst>
              <a:gd name="adj" fmla="val 8759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38200" y="20669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3A26"/>
                </a:solidFill>
                <a:latin typeface="Microsoft YaHei"/>
                <a:ea typeface="Microsoft YaHei"/>
              </a:rPr>
              <a:t>肉丝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19300" y="2009775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顺纹切</a:t>
            </a:r>
            <a:r>
              <a:rPr lang="en-US" sz="1275">
                <a:solidFill>
                  <a:srgbClr val="2B2018"/>
                </a:solidFill>
                <a:latin typeface="Microsoft YaHei"/>
                <a:ea typeface="Microsoft YaHei"/>
              </a:rPr>
              <a:t> 0.3cm </a:t>
            </a: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见方、</a:t>
            </a:r>
            <a:r>
              <a:rPr lang="en-US" sz="1275">
                <a:solidFill>
                  <a:srgbClr val="2B2018"/>
                </a:solidFill>
                <a:latin typeface="Microsoft YaHei"/>
                <a:ea typeface="Microsoft YaHei"/>
              </a:rPr>
              <a:t>6cm </a:t>
            </a: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长——顺纹不易断，受热不卷曲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66750" y="2933700"/>
            <a:ext cx="6400800" cy="1295400"/>
          </a:xfrm>
          <a:prstGeom prst="roundRect">
            <a:avLst>
              <a:gd name="adj" fmla="val 8824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34766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3A26"/>
                </a:solidFill>
                <a:latin typeface="Microsoft YaHei"/>
                <a:ea typeface="Microsoft YaHei"/>
              </a:rPr>
              <a:t>木耳丝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2019300" y="3429000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泡发后切</a:t>
            </a:r>
            <a:r>
              <a:rPr lang="en-US" sz="1275">
                <a:solidFill>
                  <a:srgbClr val="2B2018"/>
                </a:solidFill>
                <a:latin typeface="Microsoft YaHei"/>
                <a:ea typeface="Microsoft YaHei"/>
              </a:rPr>
              <a:t> 0.3cm </a:t>
            </a: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宽，长短与肉丝一致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66750" y="4343400"/>
            <a:ext cx="6400800" cy="1304925"/>
          </a:xfrm>
          <a:prstGeom prst="roundRect">
            <a:avLst>
              <a:gd name="adj" fmla="val 8759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8200" y="48958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3A26"/>
                </a:solidFill>
                <a:latin typeface="Microsoft YaHei"/>
                <a:ea typeface="Microsoft YaHei"/>
              </a:rPr>
              <a:t>冬笋·胡萝卜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019300" y="4838700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同规格火柴棍，冬笋先焯水</a:t>
            </a:r>
            <a:r>
              <a:rPr lang="en-US" sz="1275">
                <a:solidFill>
                  <a:srgbClr val="2B2018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秒去涩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66750" y="5762625"/>
            <a:ext cx="6400800" cy="523875"/>
          </a:xfrm>
          <a:prstGeom prst="roundRect">
            <a:avLst>
              <a:gd name="adj" fmla="val 21818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5915025"/>
            <a:ext cx="605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规格统一</a:t>
            </a:r>
            <a:r>
              <a:rPr lang="en-US" sz="1425" b="1">
                <a:solidFill>
                  <a:srgbClr val="2B2018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同时断生</a:t>
            </a:r>
            <a:r>
              <a:rPr lang="en-US" sz="1425" b="1">
                <a:solidFill>
                  <a:srgbClr val="2B2018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口感一致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258050" y="1143000"/>
            <a:ext cx="4267200" cy="5143500"/>
          </a:xfrm>
          <a:prstGeom prst="roundRect">
            <a:avLst>
              <a:gd name="adj" fmla="val 2679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448550" y="13335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018"/>
                </a:solidFill>
                <a:latin typeface="Microsoft YaHei"/>
                <a:ea typeface="Microsoft YaHei"/>
              </a:rPr>
              <a:t>刀工三诀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7448550" y="17430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534275" y="1790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DF8F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29550" y="1743075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018"/>
                </a:solidFill>
                <a:latin typeface="Microsoft YaHei"/>
                <a:ea typeface="Microsoft YaHei"/>
              </a:rPr>
              <a:t>肉微冻更好切：冷冻</a:t>
            </a:r>
            <a:r>
              <a:rPr lang="en-US" sz="1200">
                <a:solidFill>
                  <a:srgbClr val="2B2018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2B2018"/>
                </a:solidFill>
                <a:latin typeface="Microsoft YaHei"/>
                <a:ea typeface="Microsoft YaHei"/>
              </a:rPr>
              <a:t>分钟定型再下刀，粗细才匀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448550" y="21717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534275" y="22193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DF8F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29550" y="2171700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018"/>
                </a:solidFill>
                <a:latin typeface="Microsoft YaHei"/>
                <a:ea typeface="Microsoft YaHei"/>
              </a:rPr>
              <a:t>肉丝顺纹、肉片逆纹：方向切反，口感差一倍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448550" y="26003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534275" y="26479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DF8F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829550" y="2600325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018"/>
                </a:solidFill>
                <a:latin typeface="Microsoft YaHei"/>
                <a:ea typeface="Microsoft YaHei"/>
              </a:rPr>
              <a:t>刀贴指节，慢切稳送：安全比速度重要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448550" y="5581650"/>
            <a:ext cx="3886200" cy="514350"/>
          </a:xfrm>
          <a:prstGeom prst="roundRect">
            <a:avLst>
              <a:gd name="adj" fmla="val 18519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600950" y="5695950"/>
            <a:ext cx="3581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B2018"/>
                </a:solidFill>
                <a:latin typeface="Microsoft YaHei"/>
                <a:ea typeface="Microsoft YaHei"/>
              </a:rPr>
              <a:t>慢就是快：第一次宁可切慢一点，切匀比切快重要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上浆：锁水的唯一机会&lt;/Text&gt;&#10;    &lt;/Box&gt;&#10;    &lt;Box style={{ width: 32, height: 32, borderRadius: 16, background: '#F0B429', alignItems: 'center', justifyContent: 'center' }}&gt;&#10;      &lt;Text style={{ fontSize: 16, fontWeight: 'bold', color: '#2B2018' }}&gt;6&lt;/Text&gt;&#10;    &lt;/Box&gt;&#10;  &lt;/Box&gt;&#10;  &lt;Box style={{ height: 540, flexDirection: 'column', gap: 20 }}&gt;&#10;    &lt;Box style={{ flex: 1, flexDirection: 'row', alignItems: 'center', gap: 40 }}&gt;&#10;      &lt;Box style={{ width: 470, flexDirection: 'column', gap: 10 }}&gt;&#10;        &lt;Text style={{ fontSize: 20, color: '#2B2018', opacity: 0.7 }}&gt;抓匀后静置&lt;/Text&gt;&#10;        &lt;Box style={{ flexDirection: 'row', alignItems: 'flex-end', gap: 12 }}&gt;&#10;          &lt;Text style={{ fontSize: 130, fontWeight: 'bold', color: '#B83A26', lineHeight: 1 }}&gt;15&lt;/Text&gt;&#10;          &lt;Text style={{ fontSize: 30, fontWeight: 'bold', color: '#2B2018', paddingBottom: 12 }}&gt;分钟&lt;/Text&gt;&#10;        &lt;/Box&gt;&#10;        &lt;Box style={{ background: '#F0B429', borderRadius: 10, padding: '6px 14px', alignSelf: 'flex-start' }}&gt;&#10;          &lt;Text style={{ fontSize: 18, fontWeight: 'bold', color: '#2B2018' }}&gt;腌够时间，才有滑嫩&lt;/Text&gt;&#10;        &lt;/Box&gt;&#10;      &lt;/Box&gt;&#10;      &lt;Box style={{ flex: 1, flexDirection: 'column', gap: 16 }}&gt;&#10;        &lt;Box style={{ flexDirection: 'row', alignItems: 'center', gap: 14 }}&gt;&#10;          &lt;Box style={{ width: 110, background: '#B83A26', borderRadius: 10, padding: '8px 0', alignItems: 'center' }}&gt;&lt;Text style={{ fontSize: 17, fontWeight: 'bold', color: '#FDF8F0' }}&gt;盐 2g&lt;/Text&gt;&lt;/Box&gt;&#10;          &lt;Text style={{ flex: 1, fontSize: 16, color: '#2B2018', opacity: 0.85, lineHeight: 1.55 }}&gt;入底味，同时帮蛋白质持水&lt;/Text&gt;&#10;        &lt;/Box&gt;&#10;        &lt;Box style={{ flexDirection: 'row', alignItems: 'center', gap: 14 }}&gt;&#10;          &lt;Box style={{ width: 110, background: '#B83A26', borderRadius: 10, padding: '8px 0', alignItems: 'center' }}&gt;&lt;Text style={{ fontSize: 17, fontWeight: 'bold', color: '#FDF8F0' }}&gt;料酒 15ml&lt;/Text&gt;&lt;/Box&gt;&#10;          &lt;Text style={{ flex: 1, fontSize: 16, color: '#2B2018', opacity: 0.85, lineHeight: 1.55 }}&gt;去腥提香，受热挥发后不留味&lt;/Text&gt;&#10;        &lt;/Box&gt;&#10;        &lt;Box style={{ flexDirection: 'row', alignItems: 'center', gap: 14 }}&gt;&#10;          &lt;Box style={{ width: 110, background: '#B83A26', borderRadius: 10, padding: '8px 0', alignItems: 'center' }}&gt;&lt;Text style={{ fontSize: 17, fontWeight: 'bold', color: '#FDF8F0' }}&gt;水淀粉 30ml&lt;/Text&gt;&lt;/Box&gt;&#10;          &lt;Text style={{ flex: 1, fontSize: 16, color: '#2B2018', opacity: 0.85, lineHeight: 1.55 }}&gt;抓到每根肉丝挂浆、盘底无余水&lt;/Text&gt;&#10;        &lt;/Box&gt;&#10;      &lt;/Box&gt;&#10;    &lt;/Box&gt;&#10;    &lt;Box style={{ background: 'rgba(184,58,38,0.06)', borderRadius: 12, padding: '16px 22px' }}&gt;&#10;      &lt;Text style={{ fontSize: 20, color: '#2B2018', lineHeight: 1.6 }}&gt;淀粉糊受热凝固，把肉汁封在肉丝里——&lt;span style={{ fontWeight: 'bold' }}&gt;滑嫩不是炒出来的，是腌出来的&lt;/span&gt;。这一步省掉，后面怎么炒都救不回来。&lt;/Text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6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上浆：锁水的唯一机会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66750" y="2495550"/>
            <a:ext cx="1533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B83A26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314575" y="3524250"/>
            <a:ext cx="571500" cy="457200"/>
          </a:xfrm>
          <a:prstGeom prst="rect"/>
        </p:spPr>
        <p:txBody>
          <a:bodyPr wrap="none" lIns="0" tIns="0" rIns="0" bIns="85725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66750" y="4076700"/>
            <a:ext cx="1809750" cy="323850"/>
          </a:xfrm>
          <a:prstGeom prst="roundRect">
            <a:avLst>
              <a:gd name="adj" fmla="val 29412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413385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B2018"/>
                </a:solidFill>
                <a:latin typeface="Microsoft YaHei"/>
                <a:ea typeface="Microsoft YaHei"/>
              </a:rPr>
              <a:t>腌够时间，才有滑嫩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524500" y="2600325"/>
            <a:ext cx="1047750" cy="352425"/>
          </a:xfrm>
          <a:prstGeom prst="roundRect">
            <a:avLst>
              <a:gd name="adj" fmla="val 27027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838825" y="267652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DF8F0"/>
                </a:solidFill>
                <a:latin typeface="Microsoft YaHei"/>
                <a:ea typeface="Microsoft YaHei"/>
              </a:rPr>
              <a:t>盐</a:t>
            </a:r>
            <a:r>
              <a:rPr lang="en-US" sz="1275" b="1">
                <a:solidFill>
                  <a:srgbClr val="FDF8F0"/>
                </a:solidFill>
                <a:latin typeface="Microsoft YaHei"/>
                <a:ea typeface="Microsoft YaHei"/>
              </a:rPr>
              <a:t> 2g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524500" y="3105150"/>
            <a:ext cx="1047750" cy="352425"/>
          </a:xfrm>
          <a:prstGeom prst="roundRect">
            <a:avLst>
              <a:gd name="adj" fmla="val 27027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657850" y="3181350"/>
            <a:ext cx="78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DF8F0"/>
                </a:solidFill>
                <a:latin typeface="Microsoft YaHei"/>
                <a:ea typeface="Microsoft YaHei"/>
              </a:rPr>
              <a:t>料酒</a:t>
            </a:r>
            <a:r>
              <a:rPr lang="en-US" sz="1275" b="1">
                <a:solidFill>
                  <a:srgbClr val="FDF8F0"/>
                </a:solidFill>
                <a:latin typeface="Microsoft YaHei"/>
                <a:ea typeface="Microsoft YaHei"/>
              </a:rPr>
              <a:t> 15ml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524500" y="3609975"/>
            <a:ext cx="1047750" cy="352425"/>
          </a:xfrm>
          <a:prstGeom prst="roundRect">
            <a:avLst>
              <a:gd name="adj" fmla="val 27027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581650" y="3686175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DF8F0"/>
                </a:solidFill>
                <a:latin typeface="Microsoft YaHei"/>
                <a:ea typeface="Microsoft YaHei"/>
              </a:rPr>
              <a:t>水淀粉</a:t>
            </a:r>
            <a:r>
              <a:rPr lang="en-US" sz="1275" b="1">
                <a:solidFill>
                  <a:srgbClr val="FDF8F0"/>
                </a:solidFill>
                <a:latin typeface="Microsoft YaHei"/>
                <a:ea typeface="Microsoft YaHei"/>
              </a:rPr>
              <a:t> 30ml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66750" y="5610225"/>
            <a:ext cx="10858500" cy="676275"/>
          </a:xfrm>
          <a:prstGeom prst="roundRect">
            <a:avLst>
              <a:gd name="adj" fmla="val 16901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76300" y="5762625"/>
            <a:ext cx="104394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2B2018"/>
                </a:solidFill>
                <a:latin typeface="Microsoft YaHei"/>
                <a:ea typeface="Microsoft YaHei"/>
              </a:rPr>
              <a:t>淀粉糊受热凝固，把肉汁封在肉丝里——</a:t>
            </a:r>
            <a:r>
              <a:rPr lang="zh-CN" sz="1500" b="1">
                <a:solidFill>
                  <a:srgbClr val="2B2018"/>
                </a:solidFill>
                <a:latin typeface="Microsoft YaHei"/>
                <a:ea typeface="Microsoft YaHei"/>
              </a:rPr>
              <a:t>滑嫩不是炒出来的，是腌出来的</a:t>
            </a:r>
            <a:r>
              <a:rPr lang="zh-CN" sz="1500">
                <a:solidFill>
                  <a:srgbClr val="2B2018"/>
                </a:solidFill>
                <a:latin typeface="Microsoft YaHei"/>
                <a:ea typeface="Microsoft YaHei"/>
              </a:rPr>
              <a:t>。这一步省掉，后面怎么炒都救不回来。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66750" y="2171700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B2018">
                    <a:alpha val="70000"/>
                  </a:srgbClr>
                </a:solidFill>
                <a:latin typeface="Microsoft YaHei"/>
                <a:ea typeface="Microsoft YaHei"/>
              </a:rPr>
              <a:t>抓匀后静置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705600" y="2638425"/>
            <a:ext cx="4819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B2018">
                    <a:alpha val="85000"/>
                  </a:srgbClr>
                </a:solidFill>
                <a:latin typeface="Microsoft YaHei"/>
                <a:ea typeface="Microsoft YaHei"/>
              </a:rPr>
              <a:t>入底味，同时帮蛋白质持水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705600" y="3143250"/>
            <a:ext cx="4819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B2018">
                    <a:alpha val="85000"/>
                  </a:srgbClr>
                </a:solidFill>
                <a:latin typeface="Microsoft YaHei"/>
                <a:ea typeface="Microsoft YaHei"/>
              </a:rPr>
              <a:t>去腥提香，受热挥发后不留味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705600" y="3648075"/>
            <a:ext cx="4819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B2018">
                    <a:alpha val="85000"/>
                  </a:srgbClr>
                </a:solidFill>
                <a:latin typeface="Microsoft YaHei"/>
                <a:ea typeface="Microsoft YaHei"/>
              </a:rPr>
              <a:t>抓到每根肉丝挂浆、盘底无余水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width: 1280, height: 720, background: '#B83A26', padding: '0 70px', flexDirection: 'column' }}&gt;&#10;  &lt;Box style={{ flex: 1, alignItems: 'center', justifyContent: 'center', gap: 20 }}&gt;&#10;    &lt;Text style={{ fontSize: 18, fontWeight: 'bold', color: '#F0B429', letterSpacing: 4 }}&gt;全篇只此一个公式&lt;/Text&gt;&#10;    &lt;Text style={{ fontSize: 30, color: '#FDF8F0', opacity: 0.85 }}&gt;糖 : 醋 : 生抽 : 清水&lt;/Text&gt;&#10;    &lt;Text style={{ fontSize: 120, fontWeight: 'bold', color: '#FDF8F0', lineHeight: 1 }}&gt;2 : 2 : 1 : 2&lt;/Text&gt;&#10;    &lt;Text style={{ fontSize: 22, color: '#FDF8F0', opacity: 0.92 }}&gt;外加水淀粉 1 勺 · 盐 2g —— 酸甜为骨，咸鲜为底，辣为点缀&lt;/Text&gt;&#10;    &lt;Box style={{ background: '#F0B429', borderRadius: 10, padding: '10px 22px' }}&gt;&#10;      &lt;Text style={{ fontSize: 19, fontWeight: 'bold', color: '#2B2018' }}&gt;下锅前一次调定，中途不补味——补一次，平衡破一次&lt;/Text&gt;&#10;    &lt;/Box&gt;&#10;  &lt;/Box&gt;&#10;  &lt;Box style={{ height: 56, alignItems: 'center', justifyContent: 'center' }}&gt;&#10;    &lt;Text style={{ fontSize: 14, color: '#FDF8F0', opacity: 0.6 }}&gt;怎么做鱼香肉丝 · 家常复刻指南 · 07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257800" y="148590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300">
                <a:solidFill>
                  <a:srgbClr val="F0B429"/>
                </a:solidFill>
                <a:latin typeface="Microsoft YaHei"/>
                <a:ea typeface="Microsoft YaHei"/>
              </a:rPr>
              <a:t>全篇只此一个公式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171825" y="2419350"/>
            <a:ext cx="58483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DF8F0"/>
                </a:solidFill>
                <a:latin typeface="Microsoft YaHei"/>
                <a:ea typeface="Microsoft YaHei"/>
              </a:rPr>
              <a:t>2 : 2 : 1 : 2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695700" y="4429125"/>
            <a:ext cx="4800600" cy="409575"/>
          </a:xfrm>
          <a:prstGeom prst="roundRect">
            <a:avLst>
              <a:gd name="adj" fmla="val 23256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905250" y="4524375"/>
            <a:ext cx="4381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B2018"/>
                </a:solidFill>
                <a:latin typeface="Microsoft YaHei"/>
                <a:ea typeface="Microsoft YaHei"/>
              </a:rPr>
              <a:t>下锅前一次调定，中途不补味——补一次，平衡破一次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886325" y="1885950"/>
            <a:ext cx="2428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糖</a:t>
            </a:r>
            <a:r>
              <a:rPr lang="en-US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 : </a:t>
            </a:r>
            <a:r>
              <a:rPr lang="zh-CN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醋</a:t>
            </a:r>
            <a:r>
              <a:rPr lang="en-US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 : </a:t>
            </a:r>
            <a:r>
              <a:rPr lang="zh-CN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生抽</a:t>
            </a:r>
            <a:r>
              <a:rPr lang="en-US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 : </a:t>
            </a:r>
            <a:r>
              <a:rPr lang="zh-CN" sz="22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清水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238500" y="3981450"/>
            <a:ext cx="5724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外加水淀粉</a:t>
            </a:r>
            <a:r>
              <a:rPr lang="en-US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勺</a:t>
            </a:r>
            <a:r>
              <a:rPr lang="en-US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盐</a:t>
            </a:r>
            <a:r>
              <a:rPr lang="en-US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 2g —— </a:t>
            </a:r>
            <a:r>
              <a:rPr lang="zh-CN" sz="1650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酸甜为骨，咸鲜为底，辣为点缀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895850" y="651510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r>
              <a:rPr lang="en-US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 · 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9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火候：全程大火 3 分钟&lt;/Text&gt;&#10;    &lt;/Box&gt;&#10;    &lt;Box style={{ width: 32, height: 32, borderRadius: 16, background: '#F0B429', alignItems: 'center', justifyContent: 'center' }}&gt;&#10;      &lt;Text style={{ fontSize: 16, fontWeight: 'bold', color: '#2B2018' }}&gt;8&lt;/Text&gt;&#10;    &lt;/Box&gt;&#10;  &lt;/Box&gt;&#10;  &lt;Box style={{ height: 540, flexDirection: 'row', gap: 24 }}&gt;&#10;    &lt;Image src=&quot;assets/wok.png&quot; style={{ width: 600, height: 540, objectFit: 'cover', borderRadius: 12 }} /&gt;&#10;    &lt;Box style={{ flex: 1, flexDirection: 'column', gap: 12 }}&gt;&#10;      &lt;Box style={{ background: 'rgba(184,58,38,0.06)', borderRadius: 12, padding: '12px 16px' }}&gt;&#10;        &lt;Text style={{ fontSize: 17, color: '#2B2018', lineHeight: 1.6 }}&gt;锅烧到冒烟再下油——&lt;span style={{ fontWeight: 'bold' }}&gt;锅温不够，第一步就输&lt;/span&gt;&lt;/Text&gt;&#10;      &lt;/Box&gt;&#10;      &lt;Box style={{ flex: 1, flexDirection: 'row', alignItems: 'center', gap: 14 }}&gt;&#10;        &lt;Box style={{ width: 86, background: '#F0B429', borderRadius: 10, padding: '8px 0', alignItems: 'center' }}&gt;&lt;Text style={{ fontSize: 17, fontWeight: 'bold', color: '#2B2018' }}&gt;30 秒&lt;/Text&gt;&lt;/Box&gt;&#10;        &lt;Box style={{ flex: 1, flexDirection: 'column', gap: 2 }}&gt;&#10;          &lt;Text style={{ fontSize: 18, fontWeight: 'bold', color: '#2B2018' }}&gt;滑油&lt;/Text&gt;&#10;          &lt;Text style={{ fontSize: 15, color: '#2B2018', opacity: 0.78, lineHeight: 1.5 }}&gt;肉丝下锅快速划散，七成熟即出锅&lt;/Text&gt;&#10;        &lt;/Box&gt;&#10;      &lt;/Box&gt;&#10;      &lt;Box style={{ flex: 1, flexDirection: 'row', alignItems: 'center', gap: 14 }}&gt;&#10;        &lt;Box style={{ width: 86, background: '#F0B429', borderRadius: 10, padding: '8px 0', alignItems: 'center' }}&gt;&lt;Text style={{ fontSize: 17, fontWeight: 'bold', color: '#2B2018' }}&gt;15 秒&lt;/Text&gt;&lt;/Box&gt;&#10;        &lt;Box style={{ flex: 1, flexDirection: 'column', gap: 2 }}&gt;&#10;          &lt;Text style={{ fontSize: 18, fontWeight: 'bold', color: '#2B2018' }}&gt;煸泡椒&lt;/Text&gt;&#10;          &lt;Text style={{ fontSize: 15, color: '#2B2018', opacity: 0.78, lineHeight: 1.5 }}&gt;底油下泡椒末，煸出红油才够香&lt;/Text&gt;&#10;        &lt;/Box&gt;&#10;      &lt;/Box&gt;&#10;      &lt;Box style={{ flex: 1, flexDirection: 'row', alignItems: 'center', gap: 14 }}&gt;&#10;        &lt;Box style={{ width: 86, background: '#F0B429', borderRadius: 10, padding: '8px 0', alignItems: 'center' }}&gt;&lt;Text style={{ fontSize: 17, fontWeight: 'bold', color: '#2B2018' }}&gt;15 秒&lt;/Text&gt;&lt;/Box&gt;&#10;        &lt;Box style={{ flex: 1, flexDirection: 'column', gap: 2 }}&gt;&#10;          &lt;Text style={{ fontSize: 18, fontWeight: 'bold', color: '#2B2018' }}&gt;炒三丝&lt;/Text&gt;&#10;          &lt;Text style={{ fontSize: 15, color: '#2B2018', opacity: 0.78, lineHeight: 1.5 }}&gt;大火断生，保持脆感不停翻&lt;/Text&gt;&#10;        &lt;/Box&gt;&#10;      &lt;/Box&gt;&#10;      &lt;Box style={{ flex: 1, flexDirection: 'row', alignItems: 'center', gap: 14 }}&gt;&#10;        &lt;Box style={{ width: 86, background: '#B83A26', borderRadius: 10, padding: '8px 0', alignItems: 'center' }}&gt;&lt;Text style={{ fontSize: 17, fontWeight: 'bold', color: '#FDF8F0' }}&gt;10 秒&lt;/Text&gt;&lt;/Box&gt;&#10;        &lt;Box style={{ flex: 1, flexDirection: 'column', gap: 2 }}&gt;&#10;          &lt;Text style={{ fontSize: 18, fontWeight: 'bold', color: '#B83A26' }}&gt;回肉淋汁&lt;/Text&gt;&#10;          &lt;Text style={{ fontSize: 15, color: '#2B2018', opacity: 0.78, lineHeight: 1.5 }}&gt;肉丝回锅，汁沿锅边淋入，翻匀亮油出锅&lt;/Text&gt;&#10;        &lt;/Box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8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350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火候：全程大火</a:t>
            </a:r>
            <a:r>
              <a:rPr lang="en-US" sz="2700" b="1">
                <a:solidFill>
                  <a:srgbClr val="2B2018"/>
                </a:solidFill>
                <a:latin typeface="Microsoft YaHei"/>
                <a:ea typeface="Microsoft YaHei"/>
              </a:rPr>
              <a:t> 3 </a:t>
            </a: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pic>
        <p:nvPicPr>
          <p:cNvPr id="195" name=""/>
          <p:cNvPicPr>
            <a:picLocks noChangeAspect="1"/>
          </p:cNvPicPr>
          <p:nvPr/>
        </p:nvPicPr>
        <p:blipFill>
          <a:blip r:embed="rId1"/>
          <a:srcRect l="12962" t="0" r="12962" b="0"/>
          <a:stretch>
            <a:fillRect/>
          </a:stretch>
        </p:blipFill>
        <p:spPr>
          <a:xfrm rot="0" flipH="0" flipV="0">
            <a:off x="666750" y="1143000"/>
            <a:ext cx="5715000" cy="5143500"/>
          </a:xfrm>
          <a:prstGeom prst="roundRect">
            <a:avLst>
              <a:gd name="adj" fmla="val 2222"/>
            </a:avLst>
          </a:prstGeom>
          <a:ln/>
        </p:spPr>
      </p:pic>
      <p:sp>
        <p:nvSpPr>
          <p:cNvPr id="196" name=""/>
          <p:cNvSpPr/>
          <p:nvPr/>
        </p:nvSpPr>
        <p:spPr>
          <a:xfrm rot="0" flipH="0" flipV="0">
            <a:off x="6610350" y="1143000"/>
            <a:ext cx="4914900" cy="542925"/>
          </a:xfrm>
          <a:prstGeom prst="roundRect">
            <a:avLst>
              <a:gd name="adj" fmla="val 21053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762750" y="1257300"/>
            <a:ext cx="4610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B2018"/>
                </a:solidFill>
                <a:latin typeface="Microsoft YaHei"/>
                <a:ea typeface="Microsoft YaHei"/>
              </a:rPr>
              <a:t>锅烧到冒烟再下油——</a:t>
            </a:r>
            <a:r>
              <a:rPr lang="zh-CN" sz="1275" b="1">
                <a:solidFill>
                  <a:srgbClr val="2B2018"/>
                </a:solidFill>
                <a:latin typeface="Microsoft YaHei"/>
                <a:ea typeface="Microsoft YaHei"/>
              </a:rPr>
              <a:t>锅温不够，第一步就输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610350" y="2143125"/>
            <a:ext cx="819150" cy="352425"/>
          </a:xfrm>
          <a:prstGeom prst="roundRect">
            <a:avLst>
              <a:gd name="adj" fmla="val 27027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10375" y="221932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B2018"/>
                </a:solidFill>
                <a:latin typeface="Microsoft YaHei"/>
                <a:ea typeface="Microsoft YaHei"/>
              </a:rPr>
              <a:t>30 </a:t>
            </a:r>
            <a:r>
              <a:rPr lang="zh-CN" sz="1275" b="1">
                <a:solidFill>
                  <a:srgbClr val="2B2018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562850" y="2076450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B2018"/>
                </a:solidFill>
                <a:latin typeface="Microsoft YaHei"/>
                <a:ea typeface="Microsoft YaHei"/>
              </a:rPr>
              <a:t>滑油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610350" y="3295650"/>
            <a:ext cx="819150" cy="352425"/>
          </a:xfrm>
          <a:prstGeom prst="roundRect">
            <a:avLst>
              <a:gd name="adj" fmla="val 27027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10375" y="3371850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B2018"/>
                </a:solidFill>
                <a:latin typeface="Microsoft YaHei"/>
                <a:ea typeface="Microsoft YaHei"/>
              </a:rPr>
              <a:t>15 </a:t>
            </a:r>
            <a:r>
              <a:rPr lang="zh-CN" sz="1275" b="1">
                <a:solidFill>
                  <a:srgbClr val="2B2018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562850" y="32289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B2018"/>
                </a:solidFill>
                <a:latin typeface="Microsoft YaHei"/>
                <a:ea typeface="Microsoft YaHei"/>
              </a:rPr>
              <a:t>煸泡椒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610350" y="4448175"/>
            <a:ext cx="819150" cy="352425"/>
          </a:xfrm>
          <a:prstGeom prst="roundRect">
            <a:avLst>
              <a:gd name="adj" fmla="val 27027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10375" y="452437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B2018"/>
                </a:solidFill>
                <a:latin typeface="Microsoft YaHei"/>
                <a:ea typeface="Microsoft YaHei"/>
              </a:rPr>
              <a:t>15 </a:t>
            </a:r>
            <a:r>
              <a:rPr lang="zh-CN" sz="1275" b="1">
                <a:solidFill>
                  <a:srgbClr val="2B2018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562850" y="4381500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B2018"/>
                </a:solidFill>
                <a:latin typeface="Microsoft YaHei"/>
                <a:ea typeface="Microsoft YaHei"/>
              </a:rPr>
              <a:t>炒三丝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610350" y="5591175"/>
            <a:ext cx="819150" cy="352425"/>
          </a:xfrm>
          <a:prstGeom prst="roundRect">
            <a:avLst>
              <a:gd name="adj" fmla="val 27027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10375" y="566737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DF8F0"/>
                </a:solidFill>
                <a:latin typeface="Microsoft YaHei"/>
                <a:ea typeface="Microsoft YaHei"/>
              </a:rPr>
              <a:t>10 </a:t>
            </a:r>
            <a:r>
              <a:rPr lang="zh-CN" sz="1275" b="1">
                <a:solidFill>
                  <a:srgbClr val="FDF8F0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562850" y="5524500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3A26"/>
                </a:solidFill>
                <a:latin typeface="Microsoft YaHei"/>
                <a:ea typeface="Microsoft YaHei"/>
              </a:rPr>
              <a:t>回肉淋汁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562850" y="2305050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8000"/>
                  </a:srgbClr>
                </a:solidFill>
                <a:latin typeface="Microsoft YaHei"/>
                <a:ea typeface="Microsoft YaHei"/>
              </a:rPr>
              <a:t>肉丝下锅快速划散，七成熟即出锅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562850" y="3457575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8000"/>
                  </a:srgbClr>
                </a:solidFill>
                <a:latin typeface="Microsoft YaHei"/>
                <a:ea typeface="Microsoft YaHei"/>
              </a:rPr>
              <a:t>底油下泡椒末，煸出红油才够香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562850" y="4610100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8000"/>
                  </a:srgbClr>
                </a:solidFill>
                <a:latin typeface="Microsoft YaHei"/>
                <a:ea typeface="Microsoft YaHei"/>
              </a:rPr>
              <a:t>大火断生，保持脆感不停翻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562850" y="5753100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>
                    <a:alpha val="78000"/>
                  </a:srgbClr>
                </a:solidFill>
                <a:latin typeface="Microsoft YaHei"/>
                <a:ea typeface="Microsoft YaHei"/>
              </a:rPr>
              <a:t>肉丝回锅，汁沿锅边淋入，翻匀亮油出锅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6" name="" descr="&lt;Slide style={{ width: 1280, height: 720, background: '#FDF8F0', padding: '0 70px', flexDirection: 'column' }}&gt;&#10;  &lt;Box style={{ height: 120, flexDirection: 'row', alignItems: 'flex-end', justifyContent: 'space-between', paddingBottom: 16 }}&gt;&#10;    &lt;Box style={{ flexDirection: 'row', alignItems: 'center', gap: 14 }}&gt;&#10;      &lt;Box style={{ width: 8, height: 44, background: '#B83A26', borderRadius: 4 }} /&gt;&#10;      &lt;Text style={{ fontSize: 36, fontWeight: 'bold', color: '#2B2018' }}&gt;六大翻车点与急救&lt;/Text&gt;&#10;    &lt;/Box&gt;&#10;    &lt;Box style={{ width: 32, height: 32, borderRadius: 16, background: '#F0B429', alignItems: 'center', justifyContent: 'center' }}&gt;&#10;      &lt;Text style={{ fontSize: 16, fontWeight: 'bold', color: '#2B2018' }}&gt;9&lt;/Text&gt;&#10;    &lt;/Box&gt;&#10;  &lt;/Box&gt;&#10;  &lt;Box style={{ height: 540, flexDirection: 'row', gap: 20 }}&gt;&#10;    &lt;Box style={{ width: 280, background: '#B83A26', borderRadius: 12, padding: 22, flexDirection: 'column', justifyContent: 'space-between' }}&gt;&#10;      &lt;Text style={{ fontSize: 22, fontWeight: 'bold', color: '#FDF8F0' }}&gt;判断顺序&lt;/Text&gt;&#10;      &lt;Text style={{ fontSize: 17, color: '#FDF8F0', opacity: 0.92, lineHeight: 1.7 }}&gt;先看色，再尝味，最后看汁——六种失败，10 秒内都能定位。&lt;/Text&gt;&#10;      &lt;Text style={{ fontSize: 15, fontWeight: 'bold', color: '#F0B429' }}&gt;症状 → 原因 → 急救&lt;/Text&gt;&#10;    &lt;/Box&gt;&#10;    &lt;Box style={{ flex: 1, flexDirection: 'column', gap: 10 }}&gt;&#10;      &lt;Box style={{ flex: 1, flexDirection: 'row', alignItems: 'center', gap: 12, background: 'rgba(184,58,38,0.06)', borderRadius: 10, padding: '8px 16px' }}&gt;&#10;        &lt;Text style={{ width: 100, fontSize: 17, fontWeight: 'bold', color: '#B83A26' }}&gt;肉丝发柴&lt;/Text&gt;&#10;        &lt;Text style={{ flex: 1, fontSize: 15, color: '#2B2018', opacity: 0.8 }}&gt;没上浆，或油温过高&lt;/Text&gt;&#10;        &lt;Text style={{ width: 310, fontSize: 15, color: '#2B2018', lineHeight: 1.5 }}&gt;抓足 15 分钟；油五成热下滑肉&lt;/Text&gt;&#10;      &lt;/Box&gt;&#10;      &lt;Box style={{ flex: 1, flexDirection: 'row', alignItems: 'center', gap: 12, background: 'rgba(184,58,38,0.06)', borderRadius: 10, padding: '8px 16px' }}&gt;&#10;        &lt;Text style={{ width: 100, fontSize: 17, fontWeight: 'bold', color: '#B83A26' }}&gt;汁不发亮&lt;/Text&gt;&#10;        &lt;Text style={{ flex: 1, fontSize: 15, color: '#2B2018', opacity: 0.8 }}&gt;勾芡不足，翻炒不够&lt;/Text&gt;&#10;        &lt;Text style={{ width: 310, fontSize: 15, color: '#2B2018', lineHeight: 1.5 }}&gt;补半勺水淀粉，再翻十秒&lt;/Text&gt;&#10;      &lt;/Box&gt;&#10;      &lt;Box style={{ flex: 1, flexDirection: 'row', alignItems: 'center', gap: 12, background: 'rgba(184,58,38,0.06)', borderRadius: 10, padding: '8px 16px' }}&gt;&#10;        &lt;Text style={{ width: 100, fontSize: 17, fontWeight: 'bold', color: '#B83A26' }}&gt;入口偏甜&lt;/Text&gt;&#10;        &lt;Text style={{ flex: 1, fontSize: 15, color: '#2B2018', opacity: 0.8 }}&gt;醋受热挥发过多&lt;/Text&gt;&#10;        &lt;Text style={{ width: 310, fontSize: 15, color: '#2B2018', lineHeight: 1.5 }}&gt;起锅前沿锅边补半勺醋&lt;/Text&gt;&#10;      &lt;/Box&gt;&#10;      &lt;Box style={{ flex: 1, flexDirection: 'row', alignItems: 'center', gap: 12, background: 'rgba(184,58,38,0.06)', borderRadius: 10, padding: '8px 16px' }}&gt;&#10;        &lt;Text style={{ width: 100, fontSize: 17, fontWeight: 'bold', color: '#B83A26' }}&gt;入口偏酸&lt;/Text&gt;&#10;        &lt;Text style={{ flex: 1, fontSize: 15, color: '#2B2018', opacity: 0.8 }}&gt;糖量不足&lt;/Text&gt;&#10;        &lt;Text style={{ width: 310, fontSize: 15, color: '#2B2018', lineHeight: 1.5 }}&gt;补少许糖，不要加水&lt;/Text&gt;&#10;      &lt;/Box&gt;&#10;      &lt;Box style={{ flex: 1, flexDirection: 'row', alignItems: 'center', gap: 12, background: 'rgba(184,58,38,0.06)', borderRadius: 10, padding: '8px 16px' }}&gt;&#10;        &lt;Text style={{ width: 100, fontSize: 17, fontWeight: 'bold', color: '#B83A26' }}&gt;香气不足&lt;/Text&gt;&#10;        &lt;Text style={{ flex: 1, fontSize: 15, color: '#2B2018', opacity: 0.8 }}&gt;泡椒没煸出红油&lt;/Text&gt;&#10;        &lt;Text style={{ width: 310, fontSize: 15, color: '#2B2018', lineHeight: 1.5 }}&gt;延长煸椒，等红油析出再下料&lt;/Text&gt;&#10;      &lt;/Box&gt;&#10;      &lt;Box style={{ flex: 1, flexDirection: 'row', alignItems: 'center', gap: 12, background: 'rgba(184,58,38,0.06)', borderRadius: 10, padding: '8px 16px' }}&gt;&#10;        &lt;Text style={{ width: 100, fontSize: 17, fontWeight: 'bold', color: '#B83A26' }}&gt;汤水偏多&lt;/Text&gt;&#10;        &lt;Text style={{ flex: 1, fontSize: 15, color: '#2B2018', opacity: 0.8 }}&gt;配菜带水下锅&lt;/Text&gt;&#10;        &lt;Text style={{ width: 310, fontSize: 15, color: '#2B2018', lineHeight: 1.5 }}&gt;木耳笋丝焯水后沥干再炒&lt;/Text&gt;&#10;      &lt;/Box&gt;&#10;    &lt;/Box&gt;&#10;  &lt;/Box&gt;&#10;  &lt;Box style={{ height: 60, flexDirection: 'row', alignItems: 'center', justifyContent: 'space-between' }}&gt;&#10;    &lt;Text style={{ fontSize: 14, color: '#2B2018', opacity: 0.6 }}&gt;怎么做鱼香肉丝 · 家常复刻指南&lt;/Text&gt;&#10;    &lt;Text style={{ fontSize: 14, color: '#2B2018', opacity: 0.6 }}&gt;09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66750" y="571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76300" y="5715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018"/>
                </a:solidFill>
                <a:latin typeface="Microsoft YaHei"/>
                <a:ea typeface="Microsoft YaHei"/>
              </a:rPr>
              <a:t>六大翻车点与急救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11220450" y="685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325225" y="742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B2018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66750" y="1143000"/>
            <a:ext cx="2667000" cy="5143500"/>
          </a:xfrm>
          <a:prstGeom prst="roundRect">
            <a:avLst>
              <a:gd name="adj" fmla="val 4286"/>
            </a:avLst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76300" y="13525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DF8F0"/>
                </a:solidFill>
                <a:latin typeface="Microsoft YaHei"/>
                <a:ea typeface="Microsoft YaHei"/>
              </a:rPr>
              <a:t>判断顺序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76300" y="59055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0B429"/>
                </a:solidFill>
                <a:latin typeface="Microsoft YaHei"/>
                <a:ea typeface="Microsoft YaHei"/>
              </a:rPr>
              <a:t>症状</a:t>
            </a:r>
            <a:r>
              <a:rPr lang="en-US" sz="1125" b="1">
                <a:solidFill>
                  <a:srgbClr val="F0B429"/>
                </a:solidFill>
                <a:latin typeface="Microsoft YaHei"/>
                <a:ea typeface="Microsoft YaHei"/>
              </a:rPr>
              <a:t> → </a:t>
            </a:r>
            <a:r>
              <a:rPr lang="zh-CN" sz="1125" b="1">
                <a:solidFill>
                  <a:srgbClr val="F0B429"/>
                </a:solidFill>
                <a:latin typeface="Microsoft YaHei"/>
                <a:ea typeface="Microsoft YaHei"/>
              </a:rPr>
              <a:t>原因</a:t>
            </a:r>
            <a:r>
              <a:rPr lang="en-US" sz="1125" b="1">
                <a:solidFill>
                  <a:srgbClr val="F0B429"/>
                </a:solidFill>
                <a:latin typeface="Microsoft YaHei"/>
                <a:ea typeface="Microsoft YaHei"/>
              </a:rPr>
              <a:t> → </a:t>
            </a:r>
            <a:r>
              <a:rPr lang="zh-CN" sz="1125" b="1">
                <a:solidFill>
                  <a:srgbClr val="F0B429"/>
                </a:solidFill>
                <a:latin typeface="Microsoft YaHei"/>
                <a:ea typeface="Microsoft YaHei"/>
              </a:rPr>
              <a:t>急救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524250" y="1143000"/>
            <a:ext cx="8001000" cy="781050"/>
          </a:xfrm>
          <a:prstGeom prst="roundRect">
            <a:avLst>
              <a:gd name="adj" fmla="val 12195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676650" y="1438275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肉丝发柴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420100" y="140970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抓足</a:t>
            </a:r>
            <a:r>
              <a:rPr lang="en-US" sz="1125">
                <a:solidFill>
                  <a:srgbClr val="2B2018"/>
                </a:solidFill>
                <a:latin typeface="Microsoft YaHei"/>
                <a:ea typeface="Microsoft YaHei"/>
              </a:rPr>
              <a:t> 15 </a:t>
            </a: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分钟；油五成热下滑肉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524250" y="2019300"/>
            <a:ext cx="8001000" cy="771525"/>
          </a:xfrm>
          <a:prstGeom prst="roundRect">
            <a:avLst>
              <a:gd name="adj" fmla="val 12346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76650" y="2305050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汁不发亮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420100" y="22764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补半勺水淀粉，再翻十秒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524250" y="2886075"/>
            <a:ext cx="8001000" cy="781050"/>
          </a:xfrm>
          <a:prstGeom prst="roundRect">
            <a:avLst>
              <a:gd name="adj" fmla="val 12195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676650" y="3181350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入口偏甜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420100" y="31527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起锅前沿锅边补半勺醋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3524250" y="3762375"/>
            <a:ext cx="8001000" cy="781050"/>
          </a:xfrm>
          <a:prstGeom prst="roundRect">
            <a:avLst>
              <a:gd name="adj" fmla="val 12195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676650" y="4057650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入口偏酸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420100" y="40290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补少许糖，不要加水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524250" y="4638675"/>
            <a:ext cx="8001000" cy="771525"/>
          </a:xfrm>
          <a:prstGeom prst="roundRect">
            <a:avLst>
              <a:gd name="adj" fmla="val 12346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676650" y="4924425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香气不足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420100" y="489585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延长煸椒，等红油析出再下料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524250" y="5505450"/>
            <a:ext cx="8001000" cy="781050"/>
          </a:xfrm>
          <a:prstGeom prst="roundRect">
            <a:avLst>
              <a:gd name="adj" fmla="val 12195"/>
            </a:avLst>
          </a:prstGeom>
          <a:solidFill>
            <a:srgbClr val="B83A26">
              <a:alpha val="6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676650" y="5800725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83A26"/>
                </a:solidFill>
                <a:latin typeface="Microsoft YaHei"/>
                <a:ea typeface="Microsoft YaHei"/>
              </a:rPr>
              <a:t>汤水偏多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420100" y="577215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018"/>
                </a:solidFill>
                <a:latin typeface="Microsoft YaHei"/>
                <a:ea typeface="Microsoft YaHei"/>
              </a:rPr>
              <a:t>木耳笋丝焯水后沥干再炒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247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先看色，再尝味，最后看汁——六种失败，</a:t>
            </a:r>
            <a:r>
              <a:rPr lang="en-US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10 </a:t>
            </a:r>
            <a:r>
              <a:rPr lang="zh-CN" sz="1275">
                <a:solidFill>
                  <a:srgbClr val="FDF8F0">
                    <a:alpha val="92000"/>
                  </a:srgbClr>
                </a:solidFill>
                <a:latin typeface="Microsoft YaHei"/>
                <a:ea typeface="Microsoft YaHei"/>
              </a:rPr>
              <a:t>秒内都能定位。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743450" y="144780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没上浆，或油温过高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743450" y="232410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勾芡不足，翻炒不够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743450" y="319087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醋受热挥发过多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743450" y="406717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糖量不足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743450" y="494347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泡椒没煸出红油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743450" y="58102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018">
                    <a:alpha val="80000"/>
                  </a:srgbClr>
                </a:solidFill>
                <a:latin typeface="Microsoft YaHei"/>
                <a:ea typeface="Microsoft YaHei"/>
              </a:rPr>
              <a:t>配菜带水下锅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66750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家常复刻指南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B2018">
                    <a:alpha val="60000"/>
                  </a:srgbClr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7" name="" descr="&lt;Slide style={{ width: 1280, height: 720, background: '#B83A26', padding: '0 70px', flexDirection: 'column' }}&gt;&#10;  &lt;Box style={{ flex: 1, alignItems: 'center', justifyContent: 'center', gap: 22 }}&gt;&#10;    &lt;Text style={{ fontSize: 18, fontWeight: 'bold', color: '#F0B429', letterSpacing: 4 }}&gt;出锅自检&lt;/Text&gt;&#10;    &lt;Text style={{ fontSize: 46, fontWeight: 'bold', color: '#FDF8F0', textAlign: 'center', lineHeight: 1.45 }}&gt;咸甜酸辣葱蒜香&lt;br /&gt;七分调味三分火&lt;/Text&gt;&#10;    &lt;Text style={{ fontSize: 18, color: '#FDF8F0', opacity: 0.85 }}&gt;对照下面四条，合格就可以端上桌了&lt;/Text&gt;&#10;  &lt;/Box&gt;&#10;  &lt;Box style={{ height: 90, flexDirection: 'row', gap: 16, justifyContent: 'center', alignItems: 'center' }}&gt;&#10;    &lt;Box style={{ width: 150, height: 62, background: '#F0B429', borderRadius: 12, alignItems: 'center', justifyContent: 'center' }}&gt;&lt;Text style={{ fontSize: 20, fontWeight: 'bold', color: '#2B2018' }}&gt;色红亮&lt;/Text&gt;&lt;/Box&gt;&#10;    &lt;Box style={{ width: 150, height: 62, background: '#F0B429', borderRadius: 12, alignItems: 'center', justifyContent: 'center' }}&gt;&lt;Text style={{ fontSize: 20, fontWeight: 'bold', color: '#2B2018' }}&gt;汁包芡&lt;/Text&gt;&lt;/Box&gt;&#10;    &lt;Box style={{ width: 150, height: 62, background: '#F0B429', borderRadius: 12, alignItems: 'center', justifyContent: 'center' }}&gt;&lt;Text style={{ fontSize: 20, fontWeight: 'bold', color: '#2B2018' }}&gt;肉滑嫩&lt;/Text&gt;&lt;/Box&gt;&#10;    &lt;Box style={{ width: 150, height: 62, background: '#F0B429', borderRadius: 12, alignItems: 'center', justifyContent: 'center' }}&gt;&lt;Text style={{ fontSize: 20, fontWeight: 'bold', color: '#2B2018' }}&gt;味平衡&lt;/Text&gt;&lt;/Box&gt;&#10;  &lt;/Box&gt;&#10;  &lt;Box style={{ height: 56, alignItems: 'center', justifyContent: 'center' }}&gt;&#10;    &lt;Text style={{ fontSize: 14, color: '#FDF8F0', opacity: 0.6 }}&gt;怎么做鱼香肉丝 · 完 · 10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B83A2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676900" y="1552575"/>
            <a:ext cx="83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300">
                <a:solidFill>
                  <a:srgbClr val="F0B429"/>
                </a:solidFill>
                <a:latin typeface="Microsoft YaHei"/>
                <a:ea typeface="Microsoft YaHei"/>
              </a:rPr>
              <a:t>出锅自检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562475" y="1971675"/>
            <a:ext cx="3067050" cy="15335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3450" b="1">
                <a:solidFill>
                  <a:srgbClr val="FDF8F0"/>
                </a:solidFill>
                <a:latin typeface="Microsoft YaHei"/>
                <a:ea typeface="Microsoft YaHei"/>
              </a:rPr>
              <a:t>咸甜酸辣葱蒜香</a:t>
            </a:r>
            <a:endParaRPr/>
          </a:p>
          <a:p>
            <a:pPr algn="ctr">
              <a:lnSpc>
                <a:spcPct val="145000"/>
              </a:lnSpc>
            </a:pPr>
            <a:r>
              <a:rPr lang="zh-CN" sz="3450" b="1">
                <a:solidFill>
                  <a:srgbClr val="FDF8F0"/>
                </a:solidFill>
                <a:latin typeface="Microsoft YaHei"/>
                <a:ea typeface="Microsoft YaHei"/>
              </a:rPr>
              <a:t>七分调味三分火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009900" y="56007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438525" y="57816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018"/>
                </a:solidFill>
                <a:latin typeface="Microsoft YaHei"/>
                <a:ea typeface="Microsoft YaHei"/>
              </a:rPr>
              <a:t>色红亮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591050" y="56007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019675" y="57816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018"/>
                </a:solidFill>
                <a:latin typeface="Microsoft YaHei"/>
                <a:ea typeface="Microsoft YaHei"/>
              </a:rPr>
              <a:t>汁包芡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172200" y="56007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600825" y="57816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018"/>
                </a:solidFill>
                <a:latin typeface="Microsoft YaHei"/>
                <a:ea typeface="Microsoft YaHei"/>
              </a:rPr>
              <a:t>肉滑嫩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753350" y="56007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181975" y="57816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018"/>
                </a:solidFill>
                <a:latin typeface="Microsoft YaHei"/>
                <a:ea typeface="Microsoft YaHei"/>
              </a:rPr>
              <a:t>味平衡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724400" y="371475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DF8F0">
                    <a:alpha val="85000"/>
                  </a:srgbClr>
                </a:solidFill>
                <a:latin typeface="Microsoft YaHei"/>
                <a:ea typeface="Microsoft YaHei"/>
              </a:rPr>
              <a:t>对照下面四条，合格就可以端上桌了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229225" y="65151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怎么做鱼香肉丝</a:t>
            </a:r>
            <a:r>
              <a:rPr lang="en-US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完</a:t>
            </a:r>
            <a:r>
              <a:rPr lang="en-US" sz="1050">
                <a:solidFill>
                  <a:srgbClr val="FDF8F0">
                    <a:alpha val="60000"/>
                  </a:srgbClr>
                </a:solidFill>
                <a:latin typeface="Microsoft YaHei"/>
                <a:ea typeface="Microsoft YaHei"/>
              </a:rPr>
              <a:t> · 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2026-09-22T18:49:29Z</dcterms:created>
  <dcterms:modified xsi:type="dcterms:W3CDTF">2026-09-22T18:49:29Z</dcterms:modified>
</cp:coreProperties>
</file>