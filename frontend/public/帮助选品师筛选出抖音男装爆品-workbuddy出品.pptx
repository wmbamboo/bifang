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097280" y="4937760"/>
            <a:ext cx="5486400" cy="5486400"/>
          </a:xfrm>
          <a:prstGeom prst="roundRect">
            <a:avLst>
              <a:gd name="adj" fmla="val 8000"/>
            </a:avLst>
          </a:prstGeom>
          <a:solidFill>
            <a:srgbClr val="1E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0" y="-1371600"/>
            <a:ext cx="5486400" cy="5486400"/>
          </a:xfrm>
          <a:prstGeom prst="roundRect">
            <a:avLst>
              <a:gd name="adj" fmla="val 8000"/>
            </a:avLst>
          </a:prstGeom>
          <a:solidFill>
            <a:srgbClr val="1E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548640" cy="118872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508760"/>
            <a:ext cx="219456" cy="118872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B8C9"/>
                </a:solidFill>
                <a:latin typeface="微软雅黑"/>
                <a:ea typeface="微软雅黑"/>
              </a:rPr>
              <a:t>选品方法论 · 实操指南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帮助选品师筛选出</a:t>
            </a:r>
          </a:p>
          <a:p>
            <a:pPr algn="l"/>
            <a:r>
              <a:rPr sz="4400" b="1">
                <a:solidFill>
                  <a:srgbClr val="FE2C55"/>
                </a:solidFill>
                <a:latin typeface="微软雅黑"/>
                <a:ea typeface="微软雅黑"/>
              </a:rPr>
              <a:t>抖音男装</a:t>
            </a: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爆品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BEC8"/>
                </a:solidFill>
                <a:latin typeface="微软雅黑"/>
                <a:ea typeface="微软雅黑"/>
              </a:rPr>
              <a:t>基于《潮流新生——2024抖音服饰行业趋势报告》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560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909C"/>
                </a:solidFill>
                <a:latin typeface="微软雅黑"/>
                <a:ea typeface="微软雅黑"/>
              </a:rPr>
              <a:t>巨量引擎 × 巨量算数 × 抖音电商 × CBNData  |  内容洞察驱动的男装选品体系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71500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八大风格趋势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571500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五大筛选维度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5715000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全年男装营销节点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61823"/>
                </a:solidFill>
                <a:latin typeface="微软雅黑"/>
                <a:ea typeface="微软雅黑"/>
              </a:rPr>
              <a:t>目录 |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C9CDD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91440" cy="777240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45336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E2C55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49961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823"/>
                </a:solidFill>
                <a:latin typeface="微软雅黑"/>
                <a:ea typeface="微软雅黑"/>
              </a:rPr>
              <a:t>为什么在抖音选男装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847088"/>
            <a:ext cx="9326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内容电商高增长，男装内容需求居服饰品类前四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13432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313432"/>
            <a:ext cx="91440" cy="777240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414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B8C9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39572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823"/>
                </a:solidFill>
                <a:latin typeface="微软雅黑"/>
                <a:ea typeface="微软雅黑"/>
              </a:rPr>
              <a:t>人群与消费理念洞察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743200"/>
            <a:ext cx="9326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内容平台种草-拔草全链路，理性消费与品质升级并存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09544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209544"/>
            <a:ext cx="91440" cy="77724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3375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E88A1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2918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823"/>
                </a:solidFill>
                <a:latin typeface="微软雅黑"/>
                <a:ea typeface="微软雅黑"/>
              </a:rPr>
              <a:t>男装内容大盘与赛道地图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639312"/>
            <a:ext cx="9326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热点赛道、机会赛道、趋势新赛道三级布局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05656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105656"/>
            <a:ext cx="91440" cy="7772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23367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9D6E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18795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823"/>
                </a:solidFill>
                <a:latin typeface="微软雅黑"/>
                <a:ea typeface="微软雅黑"/>
              </a:rPr>
              <a:t>风格趋势：男装爆品风向标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535424"/>
            <a:ext cx="9326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六大男装强相关风格趋势与品类颜色建议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01768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001768"/>
            <a:ext cx="91440" cy="777240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129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D6CE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08406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823"/>
                </a:solidFill>
                <a:latin typeface="微软雅黑"/>
                <a:ea typeface="微软雅黑"/>
              </a:rPr>
              <a:t>爆品筛选五维模型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431536"/>
            <a:ext cx="9326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内容热度×赛道位置×风格趋势×功能卖点×节点匹配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8978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897880"/>
            <a:ext cx="91440" cy="777240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6025896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E2C55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98017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823"/>
                </a:solidFill>
                <a:latin typeface="微软雅黑"/>
                <a:ea typeface="微软雅黑"/>
              </a:rPr>
              <a:t>节点营销与打爆打法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6327648"/>
            <a:ext cx="9326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全年男装IP营销日历与新品打爆三大打法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61823"/>
                </a:solidFill>
                <a:latin typeface="微软雅黑"/>
                <a:ea typeface="微软雅黑"/>
              </a:rPr>
              <a:t>01 为什么在抖音选男装：内容电商的红利场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服饰消费全面线上化，抖音兼具“发现力”与“转化力”，男装内容需求位居服饰品类前四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C9CDD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2066543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91640"/>
            <a:ext cx="1847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E2C55"/>
                </a:solidFill>
                <a:latin typeface="微软雅黑"/>
                <a:ea typeface="微软雅黑"/>
              </a:rPr>
              <a:t>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86000"/>
            <a:ext cx="18470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2023年中国服饰消费
线上渠道占比（2019年起持续增长）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3783" y="1463040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43783" y="1463040"/>
            <a:ext cx="2066543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1" y="1691640"/>
            <a:ext cx="1847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B8C9"/>
                </a:solidFill>
                <a:latin typeface="微软雅黑"/>
                <a:ea typeface="微软雅黑"/>
              </a:rPr>
              <a:t>2200亿+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1" y="2286000"/>
            <a:ext cx="18470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服饰短视频
月均播放次数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6" y="1463040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47486" y="1463040"/>
            <a:ext cx="2066543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4" y="1691640"/>
            <a:ext cx="1847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8A1A"/>
                </a:solidFill>
                <a:latin typeface="微软雅黑"/>
                <a:ea typeface="微软雅黑"/>
              </a:rPr>
              <a:t>70%+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4" y="2286000"/>
            <a:ext cx="18470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服饰搜索
月均同比增速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51189" y="1463040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51189" y="1463040"/>
            <a:ext cx="2066543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7" y="1691640"/>
            <a:ext cx="1847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9D6E"/>
                </a:solidFill>
                <a:latin typeface="微软雅黑"/>
                <a:ea typeface="微软雅黑"/>
              </a:rPr>
              <a:t>+146%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7" y="2286000"/>
            <a:ext cx="18470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2023年12月服饰行业
日均货架GMV同比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54892" y="1463040"/>
            <a:ext cx="2066543" cy="1600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54892" y="1463040"/>
            <a:ext cx="2066543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4620" y="1691640"/>
            <a:ext cx="1847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D6CEF"/>
                </a:solidFill>
                <a:latin typeface="微软雅黑"/>
                <a:ea typeface="微软雅黑"/>
              </a:rPr>
              <a:t>+31%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0" y="2286000"/>
            <a:ext cx="18470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2023年服饰类
直播间数量同比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337560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566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823"/>
                </a:solidFill>
                <a:latin typeface="微软雅黑"/>
                <a:ea typeface="微软雅黑"/>
              </a:rPr>
              <a:t>消费升级与理性并存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02336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超60%抖音用户月均服饰消费在1000元以下，价格敏感仍是底色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近40%用户每月愿意在服饰上消费千元以上，品质升级诉求同样存在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相较一年前，近半数抖音用户服饰消费有所升级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Z世代是服饰消费升级的主力军，男装审美持续升级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337560"/>
            <a:ext cx="5303520" cy="26517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566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823"/>
                </a:solidFill>
                <a:latin typeface="微软雅黑"/>
                <a:ea typeface="微软雅黑"/>
              </a:rPr>
              <a:t>男装的抖音机会点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2336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男装内容播放量同比高速增长，内容需求量位居服饰品类前四（仅次于内衣裤袜、服饰配件、女装）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抖音已聚集广东、江浙、福建等核心服饰产业带，助力20多万个纺织制造商家增长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新品即新生意：品牌将抖音作为新品首发阵地，爆品孵化周期更短、成本更低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61823"/>
                </a:solidFill>
                <a:latin typeface="微软雅黑"/>
                <a:ea typeface="微软雅黑"/>
              </a:rPr>
              <a:t>01 人群洞察：内容平台成为时尚“订阅宝地”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从种草到拔草全链路在抖音闭环，购买决策被极致缩短——“即看即买”成为常态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C9CDD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611880" cy="41148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3611880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1823"/>
                </a:solidFill>
                <a:latin typeface="微软雅黑"/>
                <a:ea typeface="微软雅黑"/>
              </a:rPr>
              <a:t>种草与购买全链路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31546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72%用户通过内容平台获取时尚资讯与种草信息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78%用户通过内容电商购买服饰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42%“随手刷到喜欢的服饰”即下单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40%认同抖音带来全新购物体验，38%认可穿搭效果直观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611880" cy="41148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3611880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916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1823"/>
                </a:solidFill>
                <a:latin typeface="微软雅黑"/>
                <a:ea typeface="微软雅黑"/>
              </a:rPr>
              <a:t>理性消费观：质价并存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40280"/>
            <a:ext cx="31546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0FB8C9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62%购买时首要考虑价格/性价比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FB8C9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56%关注品质（面料/材料/工艺）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FB8C9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47%参考消费者评价与口碑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FB8C9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→ 选品必须同时满足“低价感”与“品质感”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3611880" cy="41148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611880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6916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1823"/>
                </a:solidFill>
                <a:latin typeface="微软雅黑"/>
                <a:ea typeface="微软雅黑"/>
              </a:rPr>
              <a:t>购买动机：悦己与场景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40280"/>
            <a:ext cx="31546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E88A1A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52%因穿搭/搭配整体效果萌生购买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E88A1A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50%因换季/必需产生刚性购买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E88A1A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25%为尝试新风格，23%因博主推荐/展示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E88A1A"/>
                </a:solidFill>
                <a:latin typeface="微软雅黑"/>
                <a:ea typeface="微软雅黑"/>
              </a:rPr>
              <a:t>•  </a:t>
            </a:r>
            <a:r>
              <a:rPr sz="1250" b="0">
                <a:solidFill>
                  <a:srgbClr val="161823"/>
                </a:solidFill>
                <a:latin typeface="微软雅黑"/>
                <a:ea typeface="微软雅黑"/>
              </a:rPr>
              <a:t>→ 爆品要有“场景+风格”双重叙事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61823"/>
                </a:solidFill>
                <a:latin typeface="微软雅黑"/>
                <a:ea typeface="微软雅黑"/>
              </a:rPr>
              <a:t>内容形式偏好：短视频67%、穿搭Tips类内容51% —— 爆品素材优先做成短视频穿搭展示，而非图文详情页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61823"/>
                </a:solidFill>
                <a:latin typeface="微软雅黑"/>
                <a:ea typeface="微软雅黑"/>
              </a:rPr>
              <a:t>02 男装内容大盘：商务与运动户外双核心场景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2023年男装内容走势与热点洞察（巨量算数&amp;算数电商研究院）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C9CDD4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E2C55"/>
                </a:solidFill>
                <a:latin typeface="微软雅黑"/>
                <a:ea typeface="微软雅黑"/>
              </a:rPr>
              <a:t>核心结论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300" b="0">
                <a:solidFill>
                  <a:srgbClr val="161823"/>
                </a:solidFill>
                <a:latin typeface="微软雅黑"/>
                <a:ea typeface="微软雅黑"/>
              </a:rPr>
              <a:t>商务与运动户外是男装两大核心内容场景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300" b="0">
                <a:solidFill>
                  <a:srgbClr val="161823"/>
                </a:solidFill>
                <a:latin typeface="微软雅黑"/>
                <a:ea typeface="微软雅黑"/>
              </a:rPr>
              <a:t>品类内容热点以休闲裤、T恤等基础大众品类为主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300" b="0">
                <a:solidFill>
                  <a:srgbClr val="161823"/>
                </a:solidFill>
                <a:latin typeface="微软雅黑"/>
                <a:ea typeface="微软雅黑"/>
              </a:rPr>
              <a:t>西装、汉服等特定着装类目存在较多结构性机会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300" b="0">
                <a:solidFill>
                  <a:srgbClr val="161823"/>
                </a:solidFill>
                <a:latin typeface="微软雅黑"/>
                <a:ea typeface="微软雅黑"/>
              </a:rPr>
              <a:t>男装审美升级：设计师品牌/潮牌备受年轻男性青睐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300" b="0">
                <a:solidFill>
                  <a:srgbClr val="161823"/>
                </a:solidFill>
                <a:latin typeface="微软雅黑"/>
                <a:ea typeface="微软雅黑"/>
              </a:rPr>
              <a:t>高热度风格词：牛仔、舒适、休闲、时尚、职业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300" b="0">
                <a:solidFill>
                  <a:srgbClr val="161823"/>
                </a:solidFill>
                <a:latin typeface="微软雅黑"/>
                <a:ea typeface="微软雅黑"/>
              </a:rPr>
              <a:t>高热度功能词：百搭、透气、保暖、显瘦、弹力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300" b="0">
                <a:solidFill>
                  <a:srgbClr val="161823"/>
                </a:solidFill>
                <a:latin typeface="微软雅黑"/>
                <a:ea typeface="微软雅黑"/>
              </a:rPr>
              <a:t>高热度场景词：运动、商务、商务休闲、户外、上班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B8C9"/>
                </a:solidFill>
                <a:latin typeface="微软雅黑"/>
                <a:ea typeface="微软雅黑"/>
              </a:rPr>
              <a:t>两代男人，两种爆品逻辑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年轻男性（18-30岁）</a:t>
            </a:r>
          </a:p>
          <a:p>
            <a:pPr algn="l"/>
            <a:r>
              <a:rPr sz="1250" b="0">
                <a:solidFill>
                  <a:srgbClr val="C9CDD4"/>
                </a:solidFill>
                <a:latin typeface="微软雅黑"/>
                <a:ea typeface="微软雅黑"/>
              </a:rPr>
              <a:t>追捧能彰显权威、帅气与专业的“西装杀”造型；拥抱潮牌、机能、新中式等风格化表达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3566160"/>
            <a:ext cx="4663440" cy="18288"/>
          </a:xfrm>
          <a:prstGeom prst="rect">
            <a:avLst/>
          </a:prstGeom>
          <a:solidFill>
            <a:srgbClr val="3A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中老年男性（40岁+）</a:t>
            </a:r>
          </a:p>
          <a:p>
            <a:pPr algn="l"/>
            <a:r>
              <a:rPr sz="1250" b="0">
                <a:solidFill>
                  <a:srgbClr val="C9CDD4"/>
                </a:solidFill>
                <a:latin typeface="微软雅黑"/>
                <a:ea typeface="微软雅黑"/>
              </a:rPr>
              <a:t>更青睐突显年轻亲民的牛仔裤、休闲鞋；偏好舒适、百搭的基础款，对节点礼赠装敏感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2064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8A1A"/>
                </a:solidFill>
                <a:latin typeface="微软雅黑"/>
                <a:ea typeface="微软雅黑"/>
              </a:rPr>
              <a:t>→ 选品前先问：这条货给谁穿？两个年龄带的货盘与内容策略必须分开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61823"/>
                </a:solidFill>
                <a:latin typeface="微软雅黑"/>
                <a:ea typeface="微软雅黑"/>
              </a:rPr>
              <a:t>02 男装赛道地图：三级赛道决定货品角色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热点赛道保销量、机会赛道抓增速、趋势新赛道博爆发——组合配货，而非单点押注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C9CDD4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3611880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459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823"/>
                </a:solidFill>
                <a:latin typeface="微软雅黑"/>
                <a:ea typeface="微软雅黑"/>
              </a:rPr>
              <a:t>内容热点赛道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E2C55"/>
                </a:solidFill>
                <a:latin typeface="微软雅黑"/>
                <a:ea typeface="微软雅黑"/>
              </a:rPr>
              <a:t>保基本盘 · 稳定动销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468880"/>
            <a:ext cx="813816" cy="384048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休闲裤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10512" y="2468880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T恤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78608" y="2468880"/>
            <a:ext cx="813816" cy="384048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牛仔裤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944368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夹克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36776" y="2944368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卫衣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41732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417320"/>
            <a:ext cx="3611880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6459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823"/>
                </a:solidFill>
                <a:latin typeface="微软雅黑"/>
                <a:ea typeface="微软雅黑"/>
              </a:rPr>
              <a:t>内容机会赛道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0116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8A1A"/>
                </a:solidFill>
                <a:latin typeface="微软雅黑"/>
                <a:ea typeface="微软雅黑"/>
              </a:rPr>
              <a:t>抓增速 · 提前布局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468880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短裤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85816" y="2468880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皮草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2468880"/>
            <a:ext cx="813816" cy="384048"/>
          </a:xfrm>
          <a:prstGeom prst="roundRect">
            <a:avLst>
              <a:gd name="adj" fmla="val 50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羽绒服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2944368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毛呢大衣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33288" y="2944368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棉衣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41732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417320"/>
            <a:ext cx="3611880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6459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823"/>
                </a:solidFill>
                <a:latin typeface="微软雅黑"/>
                <a:ea typeface="微软雅黑"/>
              </a:rPr>
              <a:t>趋势新赛道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0116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9D6E"/>
                </a:solidFill>
                <a:latin typeface="微软雅黑"/>
                <a:ea typeface="微软雅黑"/>
              </a:rPr>
              <a:t>博爆发 · 差异化破局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246888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西服上装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82328" y="2468880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汉服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50424" y="246888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中老年男装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944368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唐装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34856" y="2944368"/>
            <a:ext cx="1682496" cy="384048"/>
          </a:xfrm>
          <a:prstGeom prst="roundRect">
            <a:avLst>
              <a:gd name="adj" fmla="val 50000"/>
            </a:avLst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设计师/潮牌男装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572000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754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B8C9"/>
                </a:solidFill>
                <a:latin typeface="微软雅黑"/>
                <a:ea typeface="微软雅黑"/>
              </a:rPr>
              <a:t>卖点与场景热词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1663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高热度功能：</a:t>
            </a:r>
            <a:r>
              <a:rPr sz="1300" b="0">
                <a:solidFill>
                  <a:srgbClr val="C9CDD4"/>
                </a:solidFill>
                <a:latin typeface="微软雅黑"/>
                <a:ea typeface="微软雅黑"/>
              </a:rPr>
              <a:t>百搭 / 透气 / 保暖 / 显瘦 / 弹力</a:t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高热度场景：</a:t>
            </a:r>
            <a:r>
              <a:rPr sz="1300" b="0">
                <a:solidFill>
                  <a:srgbClr val="C9CDD4"/>
                </a:solidFill>
                <a:latin typeface="微软雅黑"/>
                <a:ea typeface="微软雅黑"/>
              </a:rPr>
              <a:t>运动 / 商务 / 商务休闲 / 户外 / 上班</a:t>
            </a:r>
          </a:p>
          <a:p>
            <a:pPr algn="l"/>
            <a:r>
              <a:rPr sz="1300" b="1">
                <a:solidFill>
                  <a:srgbClr val="E88A1A"/>
                </a:solidFill>
                <a:latin typeface="微软雅黑"/>
                <a:ea typeface="微软雅黑"/>
              </a:rPr>
              <a:t>选品口诀：</a:t>
            </a:r>
            <a:r>
              <a:rPr sz="1300" b="0">
                <a:solidFill>
                  <a:srgbClr val="C9CDD4"/>
                </a:solidFill>
                <a:latin typeface="微软雅黑"/>
                <a:ea typeface="微软雅黑"/>
              </a:rPr>
              <a:t>功能决定“搜索转化”，场景决定“内容种草”——两头都要占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61823"/>
                </a:solidFill>
                <a:latin typeface="微软雅黑"/>
                <a:ea typeface="微软雅黑"/>
              </a:rPr>
              <a:t>02 男装内容热点TOP5：谁在引爆男装话题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2023年1月-2024年1月男装内容热点，按热力值排序（巨量算数）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C9CDD4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6949440" cy="731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572768"/>
            <a:ext cx="777240" cy="411480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TOP1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00200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61823"/>
                </a:solidFill>
                <a:latin typeface="微软雅黑"/>
                <a:ea typeface="微软雅黑"/>
              </a:rPr>
              <a:t># 鹿晗金发西装造型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572768"/>
            <a:ext cx="868680" cy="411480"/>
          </a:xfrm>
          <a:prstGeom prst="roundRect">
            <a:avLst>
              <a:gd name="adj" fmla="val 50000"/>
            </a:avLst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0FB8C9"/>
                </a:solidFill>
                <a:latin typeface="微软雅黑"/>
                <a:ea typeface="微软雅黑"/>
              </a:rPr>
              <a:t>858w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572768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DD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161823"/>
                </a:solidFill>
                <a:latin typeface="微软雅黑"/>
                <a:ea typeface="微软雅黑"/>
              </a:rPr>
              <a:t>明星同款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67712"/>
            <a:ext cx="6949440" cy="731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2423160"/>
            <a:ext cx="777240" cy="411480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TOP2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50592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61823"/>
                </a:solidFill>
                <a:latin typeface="微软雅黑"/>
                <a:ea typeface="微软雅黑"/>
              </a:rPr>
              <a:t># 说唱巅峰对决瘦子西装杀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2423160"/>
            <a:ext cx="868680" cy="411480"/>
          </a:xfrm>
          <a:prstGeom prst="roundRect">
            <a:avLst>
              <a:gd name="adj" fmla="val 50000"/>
            </a:avLst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0FB8C9"/>
                </a:solidFill>
                <a:latin typeface="微软雅黑"/>
                <a:ea typeface="微软雅黑"/>
              </a:rPr>
              <a:t>714w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42316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DD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161823"/>
                </a:solidFill>
                <a:latin typeface="微软雅黑"/>
                <a:ea typeface="微软雅黑"/>
              </a:rPr>
              <a:t>综艺热梗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18104"/>
            <a:ext cx="6949440" cy="731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3273552"/>
            <a:ext cx="777240" cy="411480"/>
          </a:xfrm>
          <a:prstGeom prst="roundRect">
            <a:avLst>
              <a:gd name="adj" fmla="val 50000"/>
            </a:avLst>
          </a:prstGeom>
          <a:solidFill>
            <a:srgbClr val="8A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TOP3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300984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61823"/>
                </a:solidFill>
                <a:latin typeface="微软雅黑"/>
                <a:ea typeface="微软雅黑"/>
              </a:rPr>
              <a:t># 格雷系开启年末松弛感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3273552"/>
            <a:ext cx="868680" cy="411480"/>
          </a:xfrm>
          <a:prstGeom prst="roundRect">
            <a:avLst>
              <a:gd name="adj" fmla="val 50000"/>
            </a:avLst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0FB8C9"/>
                </a:solidFill>
                <a:latin typeface="微软雅黑"/>
                <a:ea typeface="微软雅黑"/>
              </a:rPr>
              <a:t>440w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273552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DD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161823"/>
                </a:solidFill>
                <a:latin typeface="微软雅黑"/>
                <a:ea typeface="微软雅黑"/>
              </a:rPr>
              <a:t>风格色系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68496"/>
            <a:ext cx="6949440" cy="731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4123944"/>
            <a:ext cx="777240" cy="411480"/>
          </a:xfrm>
          <a:prstGeom prst="roundRect">
            <a:avLst>
              <a:gd name="adj" fmla="val 50000"/>
            </a:avLst>
          </a:prstGeom>
          <a:solidFill>
            <a:srgbClr val="8A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TOP4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151376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61823"/>
                </a:solidFill>
                <a:latin typeface="微软雅黑"/>
                <a:ea typeface="微软雅黑"/>
              </a:rPr>
              <a:t># 男生牛仔裤穿搭分享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80" y="4123944"/>
            <a:ext cx="868680" cy="411480"/>
          </a:xfrm>
          <a:prstGeom prst="roundRect">
            <a:avLst>
              <a:gd name="adj" fmla="val 50000"/>
            </a:avLst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0FB8C9"/>
                </a:solidFill>
                <a:latin typeface="微软雅黑"/>
                <a:ea typeface="微软雅黑"/>
              </a:rPr>
              <a:t>429w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123944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DD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161823"/>
                </a:solidFill>
                <a:latin typeface="微软雅黑"/>
                <a:ea typeface="微软雅黑"/>
              </a:rPr>
              <a:t>基础款穿搭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18888"/>
            <a:ext cx="6949440" cy="731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4974336"/>
            <a:ext cx="777240" cy="411480"/>
          </a:xfrm>
          <a:prstGeom prst="roundRect">
            <a:avLst>
              <a:gd name="adj" fmla="val 50000"/>
            </a:avLst>
          </a:prstGeom>
          <a:solidFill>
            <a:srgbClr val="8A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TOP5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001768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61823"/>
                </a:solidFill>
                <a:latin typeface="微软雅黑"/>
                <a:ea typeface="微软雅黑"/>
              </a:rPr>
              <a:t># 撑场面的龙年穿搭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0680" y="4974336"/>
            <a:ext cx="868680" cy="411480"/>
          </a:xfrm>
          <a:prstGeom prst="roundRect">
            <a:avLst>
              <a:gd name="adj" fmla="val 50000"/>
            </a:avLst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0FB8C9"/>
                </a:solidFill>
                <a:latin typeface="微软雅黑"/>
                <a:ea typeface="微软雅黑"/>
              </a:rPr>
              <a:t>337w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974336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DD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161823"/>
                </a:solidFill>
                <a:latin typeface="微软雅黑"/>
                <a:ea typeface="微软雅黑"/>
              </a:rPr>
              <a:t>节点应景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1417320"/>
            <a:ext cx="3703320" cy="42976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8120" y="1417320"/>
            <a:ext cx="3703320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16916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61823"/>
                </a:solidFill>
                <a:latin typeface="微软雅黑"/>
                <a:ea typeface="微软雅黑"/>
              </a:rPr>
              <a:t>爆点启示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194560"/>
            <a:ext cx="3291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FB8C9"/>
                </a:solidFill>
                <a:latin typeface="微软雅黑"/>
                <a:ea typeface="微软雅黑"/>
              </a:rPr>
              <a:t>•  </a:t>
            </a:r>
            <a:r>
              <a:rPr sz="1200" b="0">
                <a:solidFill>
                  <a:srgbClr val="161823"/>
                </a:solidFill>
                <a:latin typeface="微软雅黑"/>
                <a:ea typeface="微软雅黑"/>
              </a:rPr>
              <a:t>明星造型与影视综艺是男装最大引爆器：热点出现后2-4周是同款/平替上架黄金窗口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FB8C9"/>
                </a:solidFill>
                <a:latin typeface="微软雅黑"/>
                <a:ea typeface="微软雅黑"/>
              </a:rPr>
              <a:t>•  </a:t>
            </a:r>
            <a:r>
              <a:rPr sz="1200" b="0">
                <a:solidFill>
                  <a:srgbClr val="161823"/>
                </a:solidFill>
                <a:latin typeface="微软雅黑"/>
                <a:ea typeface="微软雅黑"/>
              </a:rPr>
              <a:t>“西装杀”连续霸榜：西服上装是男装最强风格单品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FB8C9"/>
                </a:solidFill>
                <a:latin typeface="微软雅黑"/>
                <a:ea typeface="微软雅黑"/>
              </a:rPr>
              <a:t>•  </a:t>
            </a:r>
            <a:r>
              <a:rPr sz="1200" b="0">
                <a:solidFill>
                  <a:srgbClr val="161823"/>
                </a:solidFill>
                <a:latin typeface="微软雅黑"/>
                <a:ea typeface="微软雅黑"/>
              </a:rPr>
              <a:t>格雷系（灰调松弛感）验证“色系穿搭”在男装同样成立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FB8C9"/>
                </a:solidFill>
                <a:latin typeface="微软雅黑"/>
                <a:ea typeface="微软雅黑"/>
              </a:rPr>
              <a:t>•  </a:t>
            </a:r>
            <a:r>
              <a:rPr sz="1200" b="0">
                <a:solidFill>
                  <a:srgbClr val="161823"/>
                </a:solidFill>
                <a:latin typeface="微软雅黑"/>
                <a:ea typeface="微软雅黑"/>
              </a:rPr>
              <a:t>牛仔裤等基础款分享长青：基础款永远值得常备常新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E2C55"/>
                </a:solidFill>
                <a:latin typeface="微软雅黑"/>
                <a:ea typeface="微软雅黑"/>
              </a:rPr>
              <a:t>同款捕捉节奏：热点爆发 → 话题热力值&gt;500w → 3天内立项打样 → 2周内上新承接搜索流量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61823"/>
                </a:solidFill>
                <a:latin typeface="微软雅黑"/>
                <a:ea typeface="微软雅黑"/>
              </a:rPr>
              <a:t>03 风格趋势：男装爆品的六大风向标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2024抖音服饰八大风格趋势中，六条与男装高度相关；视频数量增速为2023 vs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C9CDD4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82296" cy="1965960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9961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1823"/>
                </a:solidFill>
                <a:latin typeface="微软雅黑"/>
                <a:ea typeface="微软雅黑"/>
              </a:rPr>
              <a:t>松弛高智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0876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+197%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A606E"/>
                </a:solidFill>
                <a:latin typeface="微软雅黑"/>
                <a:ea typeface="微软雅黑"/>
              </a:rPr>
              <a:t>品类：</a:t>
            </a:r>
            <a:r>
              <a:rPr sz="1100" b="0">
                <a:solidFill>
                  <a:srgbClr val="161823"/>
                </a:solidFill>
                <a:latin typeface="微软雅黑"/>
                <a:ea typeface="微软雅黑"/>
              </a:rPr>
              <a:t>西装、风衣、针织衫、POLO衫</a:t>
            </a:r>
          </a:p>
          <a:p>
            <a:pPr algn="l"/>
            <a:r>
              <a:rPr sz="1100" b="1">
                <a:solidFill>
                  <a:srgbClr val="5A606E"/>
                </a:solidFill>
                <a:latin typeface="微软雅黑"/>
                <a:ea typeface="微软雅黑"/>
              </a:rPr>
              <a:t>颜色：</a:t>
            </a:r>
            <a:r>
              <a:rPr sz="1100" b="0">
                <a:solidFill>
                  <a:srgbClr val="161823"/>
                </a:solidFill>
                <a:latin typeface="微软雅黑"/>
                <a:ea typeface="微软雅黑"/>
              </a:rPr>
              <a:t>灰色/杏色/驼色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职场高压下的舒适精英感，男装极简化的主出口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37160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1371600"/>
            <a:ext cx="82296" cy="1965960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149961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1823"/>
                </a:solidFill>
                <a:latin typeface="微软雅黑"/>
                <a:ea typeface="微软雅黑"/>
              </a:rPr>
              <a:t>极简静奢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4888" y="150876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+159%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1920240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A606E"/>
                </a:solidFill>
                <a:latin typeface="微软雅黑"/>
                <a:ea typeface="微软雅黑"/>
              </a:rPr>
              <a:t>品类：</a:t>
            </a:r>
            <a:r>
              <a:rPr sz="1100" b="0">
                <a:solidFill>
                  <a:srgbClr val="161823"/>
                </a:solidFill>
                <a:latin typeface="微软雅黑"/>
                <a:ea typeface="微软雅黑"/>
              </a:rPr>
              <a:t>衬衫、西装外套、POLO衫、休闲裤</a:t>
            </a:r>
          </a:p>
          <a:p>
            <a:pPr algn="l"/>
            <a:r>
              <a:rPr sz="1100" b="1">
                <a:solidFill>
                  <a:srgbClr val="5A606E"/>
                </a:solidFill>
                <a:latin typeface="微软雅黑"/>
                <a:ea typeface="微软雅黑"/>
              </a:rPr>
              <a:t>颜色：</a:t>
            </a:r>
            <a:r>
              <a:rPr sz="1100" b="0">
                <a:solidFill>
                  <a:srgbClr val="161823"/>
                </a:solidFill>
                <a:latin typeface="微软雅黑"/>
                <a:ea typeface="微软雅黑"/>
              </a:rPr>
              <a:t>黑白灰/大地色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578608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“男装整体风格趋向简约化”——用面料版型体现质感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137160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4736" y="1371600"/>
            <a:ext cx="82296" cy="1965960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49961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1823"/>
                </a:solidFill>
                <a:latin typeface="微软雅黑"/>
                <a:ea typeface="微软雅黑"/>
              </a:rPr>
              <a:t>复古腔调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72216" y="150876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+150%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1920240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A606E"/>
                </a:solidFill>
                <a:latin typeface="微软雅黑"/>
                <a:ea typeface="微软雅黑"/>
              </a:rPr>
              <a:t>品类：</a:t>
            </a:r>
            <a:r>
              <a:rPr sz="1100" b="0">
                <a:solidFill>
                  <a:srgbClr val="161823"/>
                </a:solidFill>
                <a:latin typeface="微软雅黑"/>
                <a:ea typeface="微软雅黑"/>
              </a:rPr>
              <a:t>牛仔裤、夹克、皮衣、毛针织衫</a:t>
            </a:r>
          </a:p>
          <a:p>
            <a:pPr algn="l"/>
            <a:r>
              <a:rPr sz="1100" b="1">
                <a:solidFill>
                  <a:srgbClr val="5A606E"/>
                </a:solidFill>
                <a:latin typeface="微软雅黑"/>
                <a:ea typeface="微软雅黑"/>
              </a:rPr>
              <a:t>颜色：</a:t>
            </a:r>
            <a:r>
              <a:rPr sz="1100" b="0">
                <a:solidFill>
                  <a:srgbClr val="161823"/>
                </a:solidFill>
                <a:latin typeface="微软雅黑"/>
                <a:ea typeface="微软雅黑"/>
              </a:rPr>
              <a:t>丹宁/酒红/墨绿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578608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丹宁回潮，老钱与新古着效应带动质感男装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502152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502152"/>
            <a:ext cx="82296" cy="1965960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6301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1823"/>
                </a:solidFill>
                <a:latin typeface="微软雅黑"/>
                <a:ea typeface="微软雅黑"/>
              </a:rPr>
              <a:t>城市趣野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363931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+146%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050792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A606E"/>
                </a:solidFill>
                <a:latin typeface="微软雅黑"/>
                <a:ea typeface="微软雅黑"/>
              </a:rPr>
              <a:t>品类：</a:t>
            </a:r>
            <a:r>
              <a:rPr sz="1100" b="0">
                <a:solidFill>
                  <a:srgbClr val="161823"/>
                </a:solidFill>
                <a:latin typeface="微软雅黑"/>
                <a:ea typeface="微软雅黑"/>
              </a:rPr>
              <a:t>冲锋衣、工装裤、马丁靴、速干衣</a:t>
            </a:r>
          </a:p>
          <a:p>
            <a:pPr algn="l"/>
            <a:r>
              <a:rPr sz="1100" b="1">
                <a:solidFill>
                  <a:srgbClr val="5A606E"/>
                </a:solidFill>
                <a:latin typeface="微软雅黑"/>
                <a:ea typeface="微软雅黑"/>
              </a:rPr>
              <a:t>颜色：</a:t>
            </a:r>
            <a:r>
              <a:rPr sz="1100" b="0">
                <a:solidFill>
                  <a:srgbClr val="161823"/>
                </a:solidFill>
                <a:latin typeface="微软雅黑"/>
                <a:ea typeface="微软雅黑"/>
              </a:rPr>
              <a:t>灰黑/森林绿/卡其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70916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商务×运动场景切换，都市户外男装第一趋势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8" y="3502152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8" y="3502152"/>
            <a:ext cx="82296" cy="1965960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6008" y="36301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1823"/>
                </a:solidFill>
                <a:latin typeface="微软雅黑"/>
                <a:ea typeface="微软雅黑"/>
              </a:rPr>
              <a:t>赛博机能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04888" y="363931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+95%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6008" y="4050792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A606E"/>
                </a:solidFill>
                <a:latin typeface="微软雅黑"/>
                <a:ea typeface="微软雅黑"/>
              </a:rPr>
              <a:t>品类：</a:t>
            </a:r>
            <a:r>
              <a:rPr sz="1100" b="0">
                <a:solidFill>
                  <a:srgbClr val="161823"/>
                </a:solidFill>
                <a:latin typeface="微软雅黑"/>
                <a:ea typeface="微软雅黑"/>
              </a:rPr>
              <a:t>工装裤、T恤、机能外套、运动鞋</a:t>
            </a:r>
          </a:p>
          <a:p>
            <a:pPr algn="l"/>
            <a:r>
              <a:rPr sz="1100" b="1">
                <a:solidFill>
                  <a:srgbClr val="5A606E"/>
                </a:solidFill>
                <a:latin typeface="微软雅黑"/>
                <a:ea typeface="微软雅黑"/>
              </a:rPr>
              <a:t>颜色：</a:t>
            </a:r>
            <a:r>
              <a:rPr sz="1100" b="0">
                <a:solidFill>
                  <a:srgbClr val="161823"/>
                </a:solidFill>
                <a:latin typeface="微软雅黑"/>
                <a:ea typeface="微软雅黑"/>
              </a:rPr>
              <a:t>银灰/黑色/荧光色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8" y="470916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Z世代先锋表达，功能性与街头感融合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74736" y="3502152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74736" y="3502152"/>
            <a:ext cx="82296" cy="1965960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3336" y="36301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1823"/>
                </a:solidFill>
                <a:latin typeface="微软雅黑"/>
                <a:ea typeface="微软雅黑"/>
              </a:rPr>
              <a:t>国潮新风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872216" y="363931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+78%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6" y="4050792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A606E"/>
                </a:solidFill>
                <a:latin typeface="微软雅黑"/>
                <a:ea typeface="微软雅黑"/>
              </a:rPr>
              <a:t>品类：</a:t>
            </a:r>
            <a:r>
              <a:rPr sz="1100" b="0">
                <a:solidFill>
                  <a:srgbClr val="161823"/>
                </a:solidFill>
                <a:latin typeface="微软雅黑"/>
                <a:ea typeface="微软雅黑"/>
              </a:rPr>
              <a:t>汉服、新中式衬衫、唐装</a:t>
            </a:r>
          </a:p>
          <a:p>
            <a:pPr algn="l"/>
            <a:r>
              <a:rPr sz="1100" b="1">
                <a:solidFill>
                  <a:srgbClr val="5A606E"/>
                </a:solidFill>
                <a:latin typeface="微软雅黑"/>
                <a:ea typeface="微软雅黑"/>
              </a:rPr>
              <a:t>颜色：</a:t>
            </a:r>
            <a:r>
              <a:rPr sz="1100" b="0">
                <a:solidFill>
                  <a:srgbClr val="161823"/>
                </a:solidFill>
                <a:latin typeface="微软雅黑"/>
                <a:ea typeface="微软雅黑"/>
              </a:rPr>
              <a:t>中国红/水墨/宝蓝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3336" y="470916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马面裙热度暴涨1648%，新中式日常化向男装渗透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6692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E2C55"/>
                </a:solidFill>
                <a:latin typeface="微软雅黑"/>
                <a:ea typeface="微软雅黑"/>
              </a:rPr>
              <a:t>爆品公式：</a:t>
            </a:r>
            <a:r>
              <a:rPr sz="1300" b="0">
                <a:solidFill>
                  <a:srgbClr val="161823"/>
                </a:solidFill>
                <a:latin typeface="微软雅黑"/>
                <a:ea typeface="微软雅黑"/>
              </a:rPr>
              <a:t>基础品类（休闲裤/T恤/夹克）× 趋势风格（如松弛高智）× 趋势色系（如格雷灰）＝ 一条“顺势爆品”；再加一个趋势新赛道单品做差异化钩子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04 爆品筛选五维模型：一张表决定上不上货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0AC"/>
                </a:solidFill>
                <a:latin typeface="微软雅黑"/>
                <a:ea typeface="微软雅黑"/>
              </a:rPr>
              <a:t>五个维度全部打勾再立项；任一维度缺失，先降级为“测款品”小批量试水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212848" cy="3931920"/>
          </a:xfrm>
          <a:prstGeom prst="roundRect">
            <a:avLst>
              <a:gd name="adj" fmla="val 6000"/>
            </a:avLst>
          </a:prstGeom>
          <a:solidFill>
            <a:srgbClr val="1E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2212848" cy="64008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72768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B8C9"/>
                </a:solidFill>
                <a:latin typeface="微软雅黑"/>
                <a:ea typeface="微软雅黑"/>
              </a:rPr>
              <a:t>① 内容热度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75104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0AC"/>
                </a:solidFill>
                <a:latin typeface="微软雅黑"/>
                <a:ea typeface="微软雅黑"/>
              </a:rPr>
              <a:t>货品所对标的内容信号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06040"/>
            <a:ext cx="188366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FB8C9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对应话题播放量过亿优先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B8C9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趋势词增速&gt;100%加分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B8C9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热点TOP榜在榜=强信号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371600"/>
            <a:ext cx="2212848" cy="3931920"/>
          </a:xfrm>
          <a:prstGeom prst="roundRect">
            <a:avLst>
              <a:gd name="adj" fmla="val 6000"/>
            </a:avLst>
          </a:prstGeom>
          <a:solidFill>
            <a:srgbClr val="1E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7792" y="1371600"/>
            <a:ext cx="2212848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1572768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8A1A"/>
                </a:solidFill>
                <a:latin typeface="微软雅黑"/>
                <a:ea typeface="微软雅黑"/>
              </a:rPr>
              <a:t>② 赛道位置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1975104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0AC"/>
                </a:solidFill>
                <a:latin typeface="微软雅黑"/>
                <a:ea typeface="微软雅黑"/>
              </a:rPr>
              <a:t>品类在三级赛道中的角色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606040"/>
            <a:ext cx="188366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E88A1A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热点赛道：走量基本盘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E88A1A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机会赛道：提前囤季前货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E88A1A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趋势新赛道：差异化利润款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1371600"/>
            <a:ext cx="2212848" cy="3931920"/>
          </a:xfrm>
          <a:prstGeom prst="roundRect">
            <a:avLst>
              <a:gd name="adj" fmla="val 6000"/>
            </a:avLst>
          </a:prstGeom>
          <a:solidFill>
            <a:srgbClr val="1E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75504" y="1371600"/>
            <a:ext cx="2212848" cy="64008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1572768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9D6E"/>
                </a:solidFill>
                <a:latin typeface="微软雅黑"/>
                <a:ea typeface="微软雅黑"/>
              </a:rPr>
              <a:t>③ 风格趋势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1975104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0AC"/>
                </a:solidFill>
                <a:latin typeface="微软雅黑"/>
                <a:ea typeface="微软雅黑"/>
              </a:rPr>
              <a:t>能否挂上六大风格标签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606040"/>
            <a:ext cx="188366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1F9D6E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风格×品类×颜色三方对齐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F9D6E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优先叠加两条趋势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F9D6E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无风格标签=白牌困境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6" y="1371600"/>
            <a:ext cx="2212848" cy="3931920"/>
          </a:xfrm>
          <a:prstGeom prst="roundRect">
            <a:avLst>
              <a:gd name="adj" fmla="val 6000"/>
            </a:avLst>
          </a:prstGeom>
          <a:solidFill>
            <a:srgbClr val="1E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43216" y="1371600"/>
            <a:ext cx="2212848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8" y="1572768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6CEF"/>
                </a:solidFill>
                <a:latin typeface="微软雅黑"/>
                <a:ea typeface="微软雅黑"/>
              </a:rPr>
              <a:t>④ 功能卖点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1975104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0AC"/>
                </a:solidFill>
                <a:latin typeface="微软雅黑"/>
                <a:ea typeface="微软雅黑"/>
              </a:rPr>
              <a:t>搜索与转化确定性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2606040"/>
            <a:ext cx="188366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D6CEF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百搭/透气/保暖/显瘦/弹力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D6CEF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价格敏感62%+品质敏感56%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D6CEF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功能词前置进标题与素材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8" y="1371600"/>
            <a:ext cx="2212848" cy="3931920"/>
          </a:xfrm>
          <a:prstGeom prst="roundRect">
            <a:avLst>
              <a:gd name="adj" fmla="val 6000"/>
            </a:avLst>
          </a:prstGeom>
          <a:solidFill>
            <a:srgbClr val="1E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10928" y="1371600"/>
            <a:ext cx="2212848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1572768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E2C55"/>
                </a:solidFill>
                <a:latin typeface="微软雅黑"/>
                <a:ea typeface="微软雅黑"/>
              </a:rPr>
              <a:t>⑤ 节点匹配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1975104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0AC"/>
                </a:solidFill>
                <a:latin typeface="微软雅黑"/>
                <a:ea typeface="微软雅黑"/>
              </a:rPr>
              <a:t>营销日历与备货节奏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606040"/>
            <a:ext cx="188366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年货节/双11/中秋等IP节点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节点品类提前30-45天备货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100" b="0">
                <a:solidFill>
                  <a:srgbClr val="D8DBE1"/>
                </a:solidFill>
                <a:latin typeface="微软雅黑"/>
                <a:ea typeface="微软雅黑"/>
              </a:rPr>
              <a:t>节点前强化内容投放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53212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1E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150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B8C9"/>
                </a:solidFill>
                <a:latin typeface="微软雅黑"/>
                <a:ea typeface="微软雅黑"/>
              </a:rPr>
              <a:t>评分建议：</a:t>
            </a:r>
            <a:r>
              <a:rPr sz="1350" b="0">
                <a:solidFill>
                  <a:srgbClr val="FFFFFF"/>
                </a:solidFill>
                <a:latin typeface="微软雅黑"/>
                <a:ea typeface="微软雅黑"/>
              </a:rPr>
              <a:t>五维各20分，总分≥80分直接下单量产；60-80分小批量测款；&lt;60分放弃或等待更强内容信号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61823"/>
                </a:solidFill>
                <a:latin typeface="微软雅黑"/>
                <a:ea typeface="微软雅黑"/>
              </a:rPr>
              <a:t>05 全年男装营销节点日历：跟着平台IP备货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2024服饰营销类目IP地图（节选男装相关）；节点趋势品类基于巨量算数节点趋势力模型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C9CDD4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1790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1-2月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453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1823"/>
                </a:solidFill>
                <a:latin typeface="微软雅黑"/>
                <a:ea typeface="微软雅黑"/>
              </a:rPr>
              <a:t>年货节/CNY “龙”重登场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29968"/>
            <a:ext cx="3328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E2C55"/>
                </a:solidFill>
                <a:latin typeface="微软雅黑"/>
                <a:ea typeface="微软雅黑"/>
              </a:rPr>
              <a:t>选品重点：</a:t>
            </a:r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新年战袍、红色系、礼赠装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371600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51790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5453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1823"/>
                </a:solidFill>
                <a:latin typeface="微软雅黑"/>
                <a:ea typeface="微软雅黑"/>
              </a:rPr>
              <a:t>服饰春上新 · 新潮男装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29968"/>
            <a:ext cx="3328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9D6E"/>
                </a:solidFill>
                <a:latin typeface="微软雅黑"/>
                <a:ea typeface="微软雅黑"/>
              </a:rPr>
              <a:t>选品重点：</a:t>
            </a:r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衬衫、夹克、休闲裤上新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371600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9328" y="1517904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4-5月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15453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1823"/>
                </a:solidFill>
                <a:latin typeface="微软雅黑"/>
                <a:ea typeface="微软雅黑"/>
              </a:rPr>
              <a:t>露营春游 · 618超会买企划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029968"/>
            <a:ext cx="3328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A1A"/>
                </a:solidFill>
                <a:latin typeface="微软雅黑"/>
                <a:ea typeface="微软雅黑"/>
              </a:rPr>
              <a:t>选品重点：</a:t>
            </a:r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户外通勤、防晒、轻运动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52344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289864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6月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2926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1823"/>
                </a:solidFill>
                <a:latin typeface="微软雅黑"/>
                <a:ea typeface="微软雅黑"/>
              </a:rPr>
              <a:t>618嘉年华 · 中国好T恤/好裤子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410712"/>
            <a:ext cx="3328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D6CEF"/>
                </a:solidFill>
                <a:latin typeface="微软雅黑"/>
                <a:ea typeface="微软雅黑"/>
              </a:rPr>
              <a:t>选品重点：</a:t>
            </a:r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T恤、短裤大促走量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2752344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289864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7-8月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926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1823"/>
                </a:solidFill>
                <a:latin typeface="微软雅黑"/>
                <a:ea typeface="微软雅黑"/>
              </a:rPr>
              <a:t>夏日清凉节 · 潮流运动季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410712"/>
            <a:ext cx="3328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B8C9"/>
                </a:solidFill>
                <a:latin typeface="微软雅黑"/>
                <a:ea typeface="微软雅黑"/>
              </a:rPr>
              <a:t>选品重点：</a:t>
            </a:r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冰感速干、运动套装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2752344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9328" y="289864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9月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8" y="2926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1823"/>
                </a:solidFill>
                <a:latin typeface="微软雅黑"/>
                <a:ea typeface="微软雅黑"/>
              </a:rPr>
              <a:t>中国好衬衫 · 中秋好礼季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3410712"/>
            <a:ext cx="3328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A1A"/>
                </a:solidFill>
                <a:latin typeface="微软雅黑"/>
                <a:ea typeface="微软雅黑"/>
              </a:rPr>
              <a:t>选品重点：</a:t>
            </a:r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衬衫、毛针织衫、礼盒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133088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4672" y="427939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10月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1952" y="430682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1823"/>
                </a:solidFill>
                <a:latin typeface="微软雅黑"/>
                <a:ea typeface="微软雅黑"/>
              </a:rPr>
              <a:t>美式复古周 · 中国好夹克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4791456"/>
            <a:ext cx="3328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9D6E"/>
                </a:solidFill>
                <a:latin typeface="微软雅黑"/>
                <a:ea typeface="微软雅黑"/>
              </a:rPr>
              <a:t>选品重点：</a:t>
            </a:r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复古丹宁、夹克外套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7408" y="4133088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0" y="427939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11月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30682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1823"/>
                </a:solidFill>
                <a:latin typeface="微软雅黑"/>
                <a:ea typeface="微软雅黑"/>
              </a:rPr>
              <a:t>双11超会买 · 中国好羽绒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791456"/>
            <a:ext cx="3328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E2C55"/>
                </a:solidFill>
                <a:latin typeface="微软雅黑"/>
                <a:ea typeface="微软雅黑"/>
              </a:rPr>
              <a:t>选品重点：</a:t>
            </a:r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羽绒服、棉服年度爆点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74736" y="4133088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39328" y="427939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12月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36608" y="430682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1823"/>
                </a:solidFill>
                <a:latin typeface="微软雅黑"/>
                <a:ea typeface="微软雅黑"/>
              </a:rPr>
              <a:t>中国好羽绒 · 新年穿新衣计划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8" y="4791456"/>
            <a:ext cx="3328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D6CEF"/>
                </a:solidFill>
                <a:latin typeface="微软雅黑"/>
                <a:ea typeface="微软雅黑"/>
              </a:rPr>
              <a:t>选品重点：</a:t>
            </a:r>
            <a:r>
              <a:rPr sz="1100" b="0">
                <a:solidFill>
                  <a:srgbClr val="5A606E"/>
                </a:solidFill>
                <a:latin typeface="微软雅黑"/>
                <a:ea typeface="微软雅黑"/>
              </a:rPr>
              <a:t>羽绒、过年战袍、商务正装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E2C55"/>
                </a:solidFill>
                <a:latin typeface="微软雅黑"/>
                <a:ea typeface="微软雅黑"/>
              </a:rPr>
              <a:t>节奏口诀：节点前45天定款打样、前30天内容铺量、前15天达人种草集中引爆、节点当周直播+货架全力承接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61823"/>
                </a:solidFill>
                <a:latin typeface="微软雅黑"/>
                <a:ea typeface="微软雅黑"/>
              </a:rPr>
              <a:t>05 新品打爆三大打法：选品定角色，打法定资源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0467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微软雅黑"/>
                <a:ea typeface="微软雅黑"/>
              </a:rPr>
              <a:t>抖音服饰沉淀的新品打爆方法论，不同确定性货品匹配不同打法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C9CDD4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3611880" cy="6400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27632"/>
            <a:ext cx="3154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161823"/>
                </a:solidFill>
                <a:latin typeface="微软雅黑"/>
                <a:ea typeface="微软雅黑"/>
              </a:rPr>
              <a:t>高举高打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29968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E2C55"/>
                </a:solidFill>
                <a:latin typeface="微软雅黑"/>
                <a:ea typeface="微软雅黑"/>
              </a:rPr>
              <a:t>预算前置花，快速抬声量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50592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150" b="0">
                <a:solidFill>
                  <a:srgbClr val="161823"/>
                </a:solidFill>
                <a:latin typeface="微软雅黑"/>
                <a:ea typeface="微软雅黑"/>
              </a:rPr>
              <a:t>适合：高客单、强品质叙事的男装（如科技鹅绒服）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150" b="0">
                <a:solidFill>
                  <a:srgbClr val="161823"/>
                </a:solidFill>
                <a:latin typeface="微软雅黑"/>
                <a:ea typeface="微软雅黑"/>
              </a:rPr>
              <a:t>官方媒体背书+跨界大事件+商城黄金资源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E2C55"/>
                </a:solidFill>
                <a:latin typeface="微软雅黑"/>
                <a:ea typeface="微软雅黑"/>
              </a:rPr>
              <a:t>•  </a:t>
            </a:r>
            <a:r>
              <a:rPr sz="1150" b="0">
                <a:solidFill>
                  <a:srgbClr val="161823"/>
                </a:solidFill>
                <a:latin typeface="微软雅黑"/>
                <a:ea typeface="微软雅黑"/>
              </a:rPr>
              <a:t>案例：高梵×中国新发布，单日站内播放500万+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3611880" cy="64008"/>
          </a:xfrm>
          <a:prstGeom prst="rect">
            <a:avLst/>
          </a:prstGeom>
          <a:solidFill>
            <a:srgbClr val="2D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627632"/>
            <a:ext cx="3154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161823"/>
                </a:solidFill>
                <a:latin typeface="微软雅黑"/>
                <a:ea typeface="微软雅黑"/>
              </a:rPr>
              <a:t>精种准打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29968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6CEF"/>
                </a:solidFill>
                <a:latin typeface="微软雅黑"/>
                <a:ea typeface="微软雅黑"/>
              </a:rPr>
              <a:t>预算精准花，做准圈层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50592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2D6CEF"/>
                </a:solidFill>
                <a:latin typeface="微软雅黑"/>
                <a:ea typeface="微软雅黑"/>
              </a:rPr>
              <a:t>•  </a:t>
            </a:r>
            <a:r>
              <a:rPr sz="1150" b="0">
                <a:solidFill>
                  <a:srgbClr val="161823"/>
                </a:solidFill>
                <a:latin typeface="微软雅黑"/>
                <a:ea typeface="微软雅黑"/>
              </a:rPr>
              <a:t>适合：风格款、圈层款（如防晒、机能男装）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D6CEF"/>
                </a:solidFill>
                <a:latin typeface="微软雅黑"/>
                <a:ea typeface="微软雅黑"/>
              </a:rPr>
              <a:t>•  </a:t>
            </a:r>
            <a:r>
              <a:rPr sz="1150" b="0">
                <a:solidFill>
                  <a:srgbClr val="161823"/>
                </a:solidFill>
                <a:latin typeface="微软雅黑"/>
                <a:ea typeface="微软雅黑"/>
              </a:rPr>
              <a:t>数据定位破圈人群+内容赛马+优质素材加热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D6CEF"/>
                </a:solidFill>
                <a:latin typeface="微软雅黑"/>
                <a:ea typeface="微软雅黑"/>
              </a:rPr>
              <a:t>•  </a:t>
            </a:r>
            <a:r>
              <a:rPr sz="1150" b="0">
                <a:solidFill>
                  <a:srgbClr val="161823"/>
                </a:solidFill>
                <a:latin typeface="微软雅黑"/>
                <a:ea typeface="微软雅黑"/>
              </a:rPr>
              <a:t>案例：蕉下防晒新品打爆，整体提效降本18%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1732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417320"/>
            <a:ext cx="3611880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627632"/>
            <a:ext cx="3154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161823"/>
                </a:solidFill>
                <a:latin typeface="微软雅黑"/>
                <a:ea typeface="微软雅黑"/>
              </a:rPr>
              <a:t>聚流快打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29968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8A1A"/>
                </a:solidFill>
                <a:latin typeface="微软雅黑"/>
                <a:ea typeface="微软雅黑"/>
              </a:rPr>
              <a:t>预算集中花，抢占心智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450592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E88A1A"/>
                </a:solidFill>
                <a:latin typeface="微软雅黑"/>
                <a:ea typeface="微软雅黑"/>
              </a:rPr>
              <a:t>•  </a:t>
            </a:r>
            <a:r>
              <a:rPr sz="1150" b="0">
                <a:solidFill>
                  <a:srgbClr val="161823"/>
                </a:solidFill>
                <a:latin typeface="微软雅黑"/>
                <a:ea typeface="微软雅黑"/>
              </a:rPr>
              <a:t>适合：强卖点单品（身材修饰+保暖双卖点）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88A1A"/>
                </a:solidFill>
                <a:latin typeface="微软雅黑"/>
                <a:ea typeface="微软雅黑"/>
              </a:rPr>
              <a:t>•  </a:t>
            </a:r>
            <a:r>
              <a:rPr sz="1150" b="0">
                <a:solidFill>
                  <a:srgbClr val="161823"/>
                </a:solidFill>
                <a:latin typeface="微软雅黑"/>
                <a:ea typeface="微软雅黑"/>
              </a:rPr>
              <a:t>明星/头部达人+素材矩阵+星推搜直承接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E88A1A"/>
                </a:solidFill>
                <a:latin typeface="微软雅黑"/>
                <a:ea typeface="微软雅黑"/>
              </a:rPr>
              <a:t>•  </a:t>
            </a:r>
            <a:r>
              <a:rPr sz="1150" b="0">
                <a:solidFill>
                  <a:srgbClr val="161823"/>
                </a:solidFill>
                <a:latin typeface="微软雅黑"/>
                <a:ea typeface="微软雅黑"/>
              </a:rPr>
              <a:t>案例：MissWiss鲨鱼裤3个月单品GMV1.3亿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92040"/>
            <a:ext cx="11155680" cy="1143000"/>
          </a:xfrm>
          <a:prstGeom prst="roundRect">
            <a:avLst>
              <a:gd name="adj" fmla="val 6000"/>
            </a:avLst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4748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B8C9"/>
                </a:solidFill>
                <a:latin typeface="微软雅黑"/>
                <a:ea typeface="微软雅黑"/>
              </a:rPr>
              <a:t>配套打法：星推搜直，种收一体</a:t>
            </a:r>
          </a:p>
          <a:p>
            <a:pPr algn="l"/>
            <a:r>
              <a:rPr sz="1200" b="0">
                <a:solidFill>
                  <a:srgbClr val="C9CDD4"/>
                </a:solidFill>
                <a:latin typeface="微软雅黑"/>
                <a:ea typeface="微软雅黑"/>
              </a:rPr>
              <a:t>达人爆文挂载搜索小蓝词 → 搜索品牌专区承接 → 达人直播转化。案例：魔力薇薇防晒新品种草ROI高达16.86；北面借热榜种草，双11曝光人群成交率+54%、5A人群规模+862%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61823"/>
                </a:solidFill>
                <a:latin typeface="微软雅黑"/>
                <a:ea typeface="微软雅黑"/>
              </a:rPr>
              <a:t>06 选品师行动清单：每周执行八件事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C9CDD4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453896"/>
            <a:ext cx="365760" cy="347472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8132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61823"/>
                </a:solidFill>
                <a:latin typeface="微软雅黑"/>
                <a:ea typeface="微软雅黑"/>
              </a:rPr>
              <a:t>周更盯榜：追踪抖音热搜榜、服饰话题热力值，捕捉男装趋势词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56816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2039112"/>
            <a:ext cx="365760" cy="347472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6654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61823"/>
                </a:solidFill>
                <a:latin typeface="微软雅黑"/>
                <a:ea typeface="微软雅黑"/>
              </a:rPr>
              <a:t>三级货盘：按热点/机会/趋势新赛道配置7:2:1的SKU结构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42032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2624328"/>
            <a:ext cx="365760" cy="347472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65176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61823"/>
                </a:solidFill>
                <a:latin typeface="微软雅黑"/>
                <a:ea typeface="微软雅黑"/>
              </a:rPr>
              <a:t>热点同款：明星/综艺男装热点爆发后2周内完成平替上新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3209544"/>
            <a:ext cx="365760" cy="347472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3697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61823"/>
                </a:solidFill>
                <a:latin typeface="微软雅黑"/>
                <a:ea typeface="微软雅黑"/>
              </a:rPr>
              <a:t>风格贴标：每条货品挂上六大风格趋势标签，组合趋势色系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12464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3794760"/>
            <a:ext cx="365760" cy="347472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82219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61823"/>
                </a:solidFill>
                <a:latin typeface="微软雅黑"/>
                <a:ea typeface="微软雅黑"/>
              </a:rPr>
              <a:t>卖点前置：功能热词（百搭透气保暖显瘦弹力）写进标题与素材首屏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97680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379976"/>
            <a:ext cx="365760" cy="347472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40740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61823"/>
                </a:solidFill>
                <a:latin typeface="微软雅黑"/>
                <a:ea typeface="微软雅黑"/>
              </a:rPr>
              <a:t>质价双验：对标62%价格敏感+56%品质敏感，用面料工艺背书低价感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82896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4965192"/>
            <a:ext cx="365760" cy="347472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99262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61823"/>
                </a:solidFill>
                <a:latin typeface="微软雅黑"/>
                <a:ea typeface="微软雅黑"/>
              </a:rPr>
              <a:t>节点备货：按全年IP日历提前30-45天锁定节点趋势品类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68112"/>
            <a:ext cx="1088136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5550408"/>
            <a:ext cx="365760" cy="347472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57784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61823"/>
                </a:solidFill>
                <a:latin typeface="微软雅黑"/>
                <a:ea typeface="微软雅黑"/>
              </a:rPr>
              <a:t>双场协同：内容场种草的同时，布局商城/搜索/商品卡承接复购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E2C55"/>
                </a:solidFill>
                <a:latin typeface="微软雅黑"/>
                <a:ea typeface="微软雅黑"/>
              </a:rPr>
              <a:t>一句话总结：男装爆品 ＝ 内容热点信号 × 三级赛道卡位 × 风格趋势标签 × 确定性卖点 × 节点节奏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097280" y="-1371600"/>
            <a:ext cx="5486400" cy="5486400"/>
          </a:xfrm>
          <a:prstGeom prst="roundRect">
            <a:avLst>
              <a:gd name="adj" fmla="val 8000"/>
            </a:avLst>
          </a:prstGeom>
          <a:solidFill>
            <a:srgbClr val="1E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548640" cy="118872"/>
          </a:xfrm>
          <a:prstGeom prst="rect">
            <a:avLst/>
          </a:prstGeom>
          <a:solidFill>
            <a:srgbClr val="FE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194560"/>
            <a:ext cx="219456" cy="118872"/>
          </a:xfrm>
          <a:prstGeom prst="rect">
            <a:avLst/>
          </a:prstGeom>
          <a:solidFill>
            <a:srgbClr val="0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趋势领航，选品先行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B9BEC8"/>
                </a:solidFill>
                <a:latin typeface="微软雅黑"/>
                <a:ea typeface="微软雅黑"/>
              </a:rPr>
              <a:t>愿每一条男装货品，都踩在潮流的浪尖上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09C"/>
                </a:solidFill>
                <a:latin typeface="微软雅黑"/>
                <a:ea typeface="微软雅黑"/>
              </a:rPr>
              <a:t>数据来源：《潮流新生——2024抖音服饰行业趋势报告》</a:t>
            </a:r>
          </a:p>
          <a:p>
            <a:pPr algn="l"/>
            <a:r>
              <a:rPr sz="1200" b="0">
                <a:solidFill>
                  <a:srgbClr val="8A909C"/>
                </a:solidFill>
                <a:latin typeface="微软雅黑"/>
                <a:ea typeface="微软雅黑"/>
              </a:rPr>
              <a:t>巨量引擎 × 巨量算数 × 抖音电商 × 第一财经商业数据中心（CBNData）联合出品</a:t>
            </a:r>
          </a:p>
          <a:p>
            <a:pPr algn="l"/>
            <a:r>
              <a:rPr sz="1200" b="0">
                <a:solidFill>
                  <a:srgbClr val="8A909C"/>
                </a:solidFill>
                <a:latin typeface="微软雅黑"/>
                <a:ea typeface="微软雅黑"/>
              </a:rPr>
              <a:t>本PPT仅供选品决策参考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